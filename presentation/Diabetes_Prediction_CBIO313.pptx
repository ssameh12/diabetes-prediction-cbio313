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B4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B43"/>
                </a:solidFill>
                <a:latin typeface="Calibri"/>
              </a:rPr>
              <a:t>Cross-validated ROC-AUC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ROC-AUC</c:v>
                </c:pt>
              </c:strCache>
            </c:strRef>
          </c:tx>
          <c:spPr>
            <a:solidFill>
              <a:srgbClr val="D1523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B4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52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7A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7A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7A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3B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Decision Tree</c:v>
                  </c:pt>
                  <c:pt idx="1">
                    <c:v>Random Forest</c:v>
                  </c:pt>
                  <c:pt idx="2">
                    <c:v>K-Nearest Neighbours</c:v>
                  </c:pt>
                  <c:pt idx="3">
                    <c:v>SVM (RBF)</c:v>
                  </c:pt>
                  <c:pt idx="4">
                    <c:v>Logistic Regression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0.651</c:v>
                </c:pt>
                <c:pt idx="1">
                  <c:v>0.821</c:v>
                </c:pt>
                <c:pt idx="2">
                  <c:v>0.822</c:v>
                </c:pt>
                <c:pt idx="3">
                  <c:v>0.833</c:v>
                </c:pt>
                <c:pt idx="4">
                  <c:v>0.843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E3B4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B4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EDF2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AA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Course project comparing five ML algorithms for diabetes screening on the Pima Indians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of the two errors is the premise for everything later — it is why accuracy is the wrong target and why the threshold gets 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objectives, in the order the report follows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768 patients, 8 features, 35% positive. The narrow population is the single biggest limitation and comes back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Nearly half of the insulin column and 30% of skin-fold thickness are missing values disguised as zeros. This single fix matters more than the choice of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Imputation lives inside the pipeline so the median is recomputed within every CV fold. The test set is touched exactly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majority-class baseline is 65% accuracy. Every accuracy number later has to beat that to mean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density estimates per feature, split by outcome, with missing values excluded. Glucose is the standout separator.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five share the same pipeline, so differences are attributable to the algorithm. The single decision tree is the clear outlier.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metrics side by side. The recall gap is the thing to point at — it sets up the threshold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time the test set is used. Ranking is broadly consistent with cross-validation, which is reassuring.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 were tuned. SVM wins on cross-validated ROC-AUC; the three test scores are within 0.003 of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model, same probabilities — only the cut-off moved. Accuracy barely notices; recall moves 31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Confusion matrices at 0.50 and at 0.285. False negatives drop from 27 to 10; false positives rise from 18 to 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beeswarm on the tuned SVM. Ranking matches permutation importance, and the direction of effect is clinically sensible.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of the Streamlit app. Show the default patient, then raise glucose to 190 to cross the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scope. The narrow population and the absence of external validation are the two that matter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framing: the win came from preprocessing and threshold choice, not from a fancier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slide with the repository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1371600" cy="384048"/>
          </a:xfrm>
          <a:prstGeom prst="roundRect">
            <a:avLst>
              <a:gd name="adj" fmla="val 95238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960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Diabetes Prediction from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Measurements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five machine learning algorithms on the Pima Indians dataset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43484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5262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Shahd Sameh Safwat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231002256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9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 ·  Instructor: Dr. Muhammad Elsayeh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27048"/>
            <a:ext cx="365760" cy="365760"/>
          </a:xfrm>
          <a:prstGeom prst="roundRect">
            <a:avLst>
              <a:gd name="adj" fmla="val 625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27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07008" y="157276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onset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7008" y="186537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2 diabetes develops silently. By the time symptoms appear, damage to the kidneys, retina and nerves is often already underway.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944368"/>
            <a:ext cx="365760" cy="365760"/>
          </a:xfrm>
          <a:prstGeom prst="roundRect">
            <a:avLst>
              <a:gd name="adj" fmla="val 625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299008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expensive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7008" y="328269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programmes exist for this reason — but a full diagnostic workup is expensive and cannot be given to everyone.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365760" cy="365760"/>
          </a:xfrm>
          <a:prstGeom prst="roundRect">
            <a:avLst>
              <a:gd name="adj" fmla="val 625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07008" y="440740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07008" y="470001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triage step that flags who most needs that workup, using measurements already taken at a routine visit.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572768"/>
            <a:ext cx="5242255" cy="4114800"/>
          </a:xfrm>
          <a:prstGeom prst="roundRect">
            <a:avLst>
              <a:gd name="adj" fmla="val 1778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182880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errors are not equally costly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29400" y="2377440"/>
            <a:ext cx="46021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542032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2834640"/>
            <a:ext cx="4144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patient goes for one extra blood test.  Inconvenient.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629400" y="3886200"/>
            <a:ext cx="4602175" cy="1463040"/>
          </a:xfrm>
          <a:prstGeom prst="roundRect">
            <a:avLst>
              <a:gd name="adj" fmla="val 5000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4050792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343400"/>
            <a:ext cx="4144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undiagnosed diabetic is sent home reassured.  Serious.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2938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29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4650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 dataset where missing values were silently recorded as zeros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24448" y="160020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98768" y="192938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8768" y="1929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284568" y="174650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how each measurement relates to diabetes status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06324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39242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320954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compare five algorithms from the course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24448" y="306324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8768" y="339242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98768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84568" y="320954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metrics suited to imbalanced medical screening — not accuracy alone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52628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55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00200" y="467258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best model and choose a threshold appropriate for screening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24448" y="452628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98768" y="485546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8768" y="4855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84568" y="467258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the model predicts what it predicts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Database — UCI / NIDDK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47974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974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447974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5868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5868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255868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diabetes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63761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63761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21+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063761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women, Pima heritage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10911535" cy="2103120"/>
          </a:xfrm>
          <a:prstGeom prst="roundRect">
            <a:avLst>
              <a:gd name="adj" fmla="val 3478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703320"/>
            <a:ext cx="10180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measurements: 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pregnancies, plasma glucose, blood pressure, skin-fold thickness, serum insulin, BMI, family-history score, age.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— 1 = diabetes, 0 = no diabetes.  500 negative / 268 positive.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patients are women of Pima heritage aged 21+ near Phoenix, Arizona — a narrow population, revisited in the limitations.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1: the zeros are not zeros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preprocessing step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columns report a minimum of 0 — glucose, blood pressure, skin thickness, insulin, BMI. None is biologically possible in a living patient.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missing measurements that were never marked as missing. Left alone, a model reads insulin = 0 as a real, extremely low reading — the opposite of the truth.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160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incomplete rows would throw away nearly half the dataset.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7548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Instead: mark as NaN, then impute the median inside the model pipeline.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37360"/>
          <a:ext cx="5242255" cy="914400"/>
        </p:xfrm>
        <a:graphic>
          <a:graphicData uri="http://schemas.openxmlformats.org/drawingml/2006/table">
            <a:tbl>
              <a:tblPr/>
              <a:tblGrid>
                <a:gridCol w="2621128"/>
                <a:gridCol w="1258141"/>
                <a:gridCol w="136298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SkinThickness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we avoided cheating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179978" cy="777240"/>
          </a:xfrm>
          <a:prstGeom prst="roundRect">
            <a:avLst>
              <a:gd name="adj" fmla="val 141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1799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(median)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20058" y="155448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05858" y="1554480"/>
            <a:ext cx="3179978" cy="777240"/>
          </a:xfrm>
          <a:prstGeom prst="roundRect">
            <a:avLst>
              <a:gd name="adj" fmla="val 141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5858" y="1554480"/>
            <a:ext cx="31799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(StandardScaler)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5837" y="155448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371637" y="1554480"/>
            <a:ext cx="3179978" cy="777240"/>
          </a:xfrm>
          <a:prstGeom prst="roundRect">
            <a:avLst>
              <a:gd name="adj" fmla="val 141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71637" y="1554480"/>
            <a:ext cx="31799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239572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estimator, identical for all five algorithms.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places this project could have quietly cheated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5478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413308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inside the pipeline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the median over all 768 rows and then splitting would leak test data into training and inflate every score.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99178" y="3310128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3498" y="35478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3498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73498" y="413308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chosen on CV score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673498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was chosen on cross-validated training score, never on test performance. Picking by test score is model selection on the test set.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158277" y="3310128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32597" y="35478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32597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32597" y="413308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from out-of-fold predictions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432597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was chosen from out-of-fold training predictions. The test set was used exactly once, at the very end.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 and missing data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home/claude/work/img/fig-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1536192"/>
            <a:ext cx="8412480" cy="374887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539496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says "no diabetes" scores 65% accuracy and catches zero diabetics.  </a:t>
            </a:r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benchmark every accuracy figure must be read against.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measurements separate the groups?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5" name="Image 0" descr="/home/claude/work/img/fig-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207008"/>
            <a:ext cx="9326880" cy="42100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50468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separates the two groups most clearly. BMI and Age shift moderately.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BloodPressure and SkinThickness overlap almost entirely — they will contribute little.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algorithms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 the identical impute → scale → classify pipeline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" y="190195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baseline, interpretable coefficients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margin with a non-linear kernel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3101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Neighbours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Non-parametric, purely local decision rule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4151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442569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Bagged ensemble of 300 trees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9926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526694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rules, reference for the ensemble</a:t>
            </a:r>
            <a:endParaRPr lang="en-US" sz="12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532120" y="1481328"/>
          <a:ext cx="601949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cross-validation on the training set only — the test set stays sealed.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Cross-validated on the training set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home/claude/work/img/fig-0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536192"/>
            <a:ext cx="8138160" cy="35903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230368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5230368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recall is far below accuracy for every single model.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default cut-off these classifiers catch only about 55–60% of diabetics.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Held-out test set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— the test set's one and only use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home/claude/work/img/fig-0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5029200" cy="449302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33695" cy="914400"/>
        </p:xfrm>
        <a:graphic>
          <a:graphicData uri="http://schemas.openxmlformats.org/drawingml/2006/table">
            <a:tbl>
              <a:tblPr/>
              <a:tblGrid>
                <a:gridCol w="2133478"/>
                <a:gridCol w="1013402"/>
                <a:gridCol w="1013402"/>
                <a:gridCol w="1173413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(RBF)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K-Nearest Neighbours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7920" y="4892040"/>
            <a:ext cx="5333695" cy="1188720"/>
          </a:xfrm>
          <a:prstGeom prst="roundRect">
            <a:avLst>
              <a:gd name="adj" fmla="val 615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37960" y="4892040"/>
            <a:ext cx="4693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five curves sit close together. Recall at the default cut-off never reaches 0.58 — no model is screening-ready out of the box.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tuning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GridSearchCV, scored on ROC-AUC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 are scored on ROC-AUC, not recall. Optimising directly on recall rewards models that just predict "diabetic" more often — in the limit, flagging everyone scores perfect recall. ROC-AUC ranks models independently of the threshold.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797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60120" y="3108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668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C=0.1,  class_weight=balanced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19695" y="277977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ROC-AUC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619695" y="305409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0.8450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585655" y="277977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585655" y="305409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0.8104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" y="3730752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668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class_weight=None,  max_depth=5,  min_samples_leaf=3,  n_estimators=400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19695" y="38587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ROC-AUC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19695" y="41330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0.8388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585655" y="38587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585655" y="41330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0.8119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0080" y="4809744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D6E9E7"/>
          </a:solidFill>
          <a:ln w="12700">
            <a:solidFill>
              <a:srgbClr val="D6E9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937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60120" y="526694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668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C=1,  class_weight=balanced,  gamma=0.01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19695" y="49377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ROC-AUC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619695" y="52120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0.8493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585655" y="49377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585655" y="52120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0.8096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 </a:t>
            </a:r>
            <a:pPr indent="0" marL="0">
              <a:buNone/>
            </a:pPr>
            <a:r>
              <a:rPr lang="en-US" sz="145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pPr indent="0" marL="0">
              <a:buNone/>
            </a:pPr>
            <a:r>
              <a:rPr lang="en-US" sz="14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CV ROC-AUC 0.849,  test ROC-AUC 0.810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2: the threshold is the real result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marks are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predict() flags a patient at probability 0.50. That cut-off maximises accuracy — the wrong target for screening. We chose the threshold from out-of-fold training predictions to reach 80% recall.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11535" cy="914400"/>
        </p:xfrm>
        <a:graphic>
          <a:graphicData uri="http://schemas.openxmlformats.org/drawingml/2006/table">
            <a:tbl>
              <a:tblPr/>
              <a:tblGrid>
                <a:gridCol w="2836999"/>
                <a:gridCol w="1854961"/>
                <a:gridCol w="1854961"/>
                <a:gridCol w="1745846"/>
                <a:gridCol w="2618768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point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diabetics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 0.50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of 54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 0.285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of 54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34840"/>
            <a:ext cx="3393338" cy="1298448"/>
          </a:xfrm>
          <a:prstGeom prst="roundRect">
            <a:avLst>
              <a:gd name="adj" fmla="val 563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55371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+1.3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40080" y="5285232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accuracy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99178" y="4434840"/>
            <a:ext cx="3393338" cy="1298448"/>
          </a:xfrm>
          <a:prstGeom prst="roundRect">
            <a:avLst>
              <a:gd name="adj" fmla="val 563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99178" y="455371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+31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4399178" y="5285232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recall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158277" y="4434840"/>
            <a:ext cx="3393338" cy="1298448"/>
          </a:xfrm>
          <a:prstGeom prst="roundRect">
            <a:avLst>
              <a:gd name="adj" fmla="val 563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58277" y="455371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→ 10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8158277" y="5285232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diabetics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85216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was simply not measuring the thing we care about — the whole gain cost 2.9 points of precision.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model, two operating points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5" name="Image 0" descr="/home/claude/work/img/fig-0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1234440"/>
            <a:ext cx="8595360" cy="364086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20240" y="5257800"/>
            <a:ext cx="8351215" cy="777240"/>
          </a:xfrm>
          <a:prstGeom prst="roundRect">
            <a:avLst>
              <a:gd name="adj" fmla="val 9412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20240" y="5257800"/>
            <a:ext cx="8351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Bottom-left cell = diabetics the model sent home.  That is the number to watch.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and SHAP agree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home/claude/work/img/fig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6766560" cy="38514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63840" y="1746504"/>
            <a:ext cx="128016" cy="128016"/>
          </a:xfrm>
          <a:prstGeom prst="ellipse">
            <a:avLst/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0" y="162763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one patient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63840" y="2157984"/>
            <a:ext cx="128016" cy="128016"/>
          </a:xfrm>
          <a:prstGeom prst="ellipse">
            <a:avLst/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203911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= pushed towards diabetes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863840" y="2569464"/>
            <a:ext cx="128016" cy="128016"/>
          </a:xfrm>
          <a:prstGeom prst="ellipse">
            <a:avLst/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45059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high value, blue = low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863840" y="3200400"/>
            <a:ext cx="3687775" cy="2514600"/>
          </a:xfrm>
          <a:prstGeom prst="roundRect">
            <a:avLst>
              <a:gd name="adj" fmla="val 2909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38160" y="3383280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Glucose, then BMI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138160" y="3794760"/>
            <a:ext cx="313913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glucose pushes towards diabetes; low glucose pulls back. The direction is clinically correct — a model with the right accuracy but an inverted relationship would be dangerous, and this plot would expose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Streamlit prediction app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7850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785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eight measurements on the sidebar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718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471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49631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predicted probability and a screening decision at the tuned threshold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51586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15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336499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the patient compares to the population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38454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423367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per-patient SHAP explanation of that specific prediction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49440" y="1572768"/>
            <a:ext cx="4602175" cy="1051560"/>
          </a:xfrm>
          <a:prstGeom prst="roundRect">
            <a:avLst>
              <a:gd name="adj" fmla="val 6957"/>
            </a:avLst>
          </a:prstGeom>
          <a:solidFill>
            <a:srgbClr val="0E3B43"/>
          </a:solidFill>
          <a:ln w="12700">
            <a:solidFill>
              <a:srgbClr val="0E3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1572768"/>
            <a:ext cx="39620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D8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streamlit run src/app.py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949440" y="2834640"/>
            <a:ext cx="4602175" cy="1280160"/>
          </a:xfrm>
          <a:prstGeom prst="roundRect">
            <a:avLst>
              <a:gd name="adj" fmla="val 571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69480" y="2999232"/>
            <a:ext cx="2407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patient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69480" y="3383280"/>
            <a:ext cx="2407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flagged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722815" y="310896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23.5%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6949440" y="4251960"/>
            <a:ext cx="4602175" cy="1280160"/>
          </a:xfrm>
          <a:prstGeom prst="roundRect">
            <a:avLst>
              <a:gd name="adj" fmla="val 571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4416552"/>
            <a:ext cx="2407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glucose to 190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69480" y="4800600"/>
            <a:ext cx="2407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confirmatory testing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22815" y="452628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78.6%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model cannot 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46504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746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157276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population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17720" y="1572768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 patients, all women of Pima heritage aged 21+. Nothing transfers to men, other ethnicities, or younger patients.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414016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2587752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414016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imputation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17720" y="2414016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 of insulin and 30% of skin-fold values were filled in — and both rank near the bottom of the importance plots.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255264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429000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325526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probably not random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17720" y="3255264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imputation assumes it is.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096512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270248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096512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validation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17720" y="4096512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154-patient test split, so the interval around a recall of 0.81 is wide.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493776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" y="5111496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5111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17320" y="49377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ceiling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17720" y="4937760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coarse measurements carry limited signal. Better results need better features (HbA1c, fasting glucose), not fancier models.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5806440"/>
            <a:ext cx="10911535" cy="457200"/>
          </a:xfrm>
          <a:prstGeom prst="roundRect">
            <a:avLst>
              <a:gd name="adj" fmla="val 16000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project, not a medical device.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47974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47974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447974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diabetics caught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5868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of 54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55868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missed, down from 27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63761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63761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9063761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compared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3721608"/>
            <a:ext cx="137160" cy="137160"/>
          </a:xfrm>
          <a:prstGeom prst="ellipse">
            <a:avLst/>
          </a:prstGeom>
          <a:solidFill>
            <a:srgbClr val="9FD8CB"/>
          </a:solidFill>
          <a:ln w="12700">
            <a:solidFill>
              <a:srgbClr val="9FD8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520440"/>
            <a:ext cx="10500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DC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gains came from preprocessing and from matching the operating point to the clinical cost of each error — not from the choice of algorithm.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85800" y="4544568"/>
            <a:ext cx="137160" cy="137160"/>
          </a:xfrm>
          <a:prstGeom prst="ellipse">
            <a:avLst/>
          </a:prstGeom>
          <a:solidFill>
            <a:srgbClr val="9FD8CB"/>
          </a:solidFill>
          <a:ln w="12700">
            <a:solidFill>
              <a:srgbClr val="9FD8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343400"/>
            <a:ext cx="10500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DC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five models landed within a few points of each other. A well-regularised linear model was competitive with everything more elaborate.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85800" y="5367528"/>
            <a:ext cx="137160" cy="137160"/>
          </a:xfrm>
          <a:prstGeom prst="ellipse">
            <a:avLst/>
          </a:prstGeom>
          <a:solidFill>
            <a:srgbClr val="9FD8CB"/>
          </a:solidFill>
          <a:ln w="12700">
            <a:solidFill>
              <a:srgbClr val="9FD8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66360"/>
            <a:ext cx="10500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DC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triage aid flagging ~80% of diabetics for confirmatory testing, the model is plausible and its behaviour is explainable.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4206240"/>
            <a:ext cx="6035040" cy="685800"/>
          </a:xfrm>
          <a:prstGeom prst="roundRect">
            <a:avLst>
              <a:gd name="adj" fmla="val 13333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206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D8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github.com/ssameh12/diabetes-prediction-cbio313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Shahd Sameh Safwat  ·  231002256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Diabetes Prediction from Clinical Measurements</dc:title>
  <dc:subject>PptxGenJS Presentation</dc:subject>
  <dc:creator>Shahd Sameh Safwat</dc:creator>
  <cp:lastModifiedBy>Shahd Sameh Safwat</cp:lastModifiedBy>
  <cp:revision>1</cp:revision>
  <dcterms:created xsi:type="dcterms:W3CDTF">2026-08-08T16:53:11Z</dcterms:created>
  <dcterms:modified xsi:type="dcterms:W3CDTF">2026-08-08T16:53:11Z</dcterms:modified>
</cp:coreProperties>
</file>