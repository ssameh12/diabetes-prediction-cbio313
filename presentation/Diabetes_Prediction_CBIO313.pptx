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5" r:id="rId18"/>
    <p:sldId id="276" r:id="rId19"/>
    <p:sldId id="272" r:id="rId20"/>
    <p:sldId id="273" r:id="rId21"/>
    <p:sldId id="274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0E3B43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0E3B43"/>
                </a:solidFill>
                <a:latin typeface="Calibri"/>
              </a:rPr>
              <a:t>Cross-validated ROC-AUC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CV ROC-AUC</c:v>
                </c:pt>
              </c:strCache>
            </c:strRef>
          </c:tx>
          <c:spPr>
            <a:solidFill>
              <a:srgbClr val="D1523A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1DD-4E8A-8058-CC44257D0DD1}"/>
              </c:ext>
            </c:extLst>
          </c:dPt>
          <c:dPt>
            <c:idx val="1"/>
            <c:invertIfNegative val="0"/>
            <c:bubble3D val="0"/>
            <c:spPr>
              <a:solidFill>
                <a:srgbClr val="1B7A8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1DD-4E8A-8058-CC44257D0DD1}"/>
              </c:ext>
            </c:extLst>
          </c:dPt>
          <c:dPt>
            <c:idx val="2"/>
            <c:invertIfNegative val="0"/>
            <c:bubble3D val="0"/>
            <c:spPr>
              <a:solidFill>
                <a:srgbClr val="1B7A8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1DD-4E8A-8058-CC44257D0DD1}"/>
              </c:ext>
            </c:extLst>
          </c:dPt>
          <c:dPt>
            <c:idx val="3"/>
            <c:invertIfNegative val="0"/>
            <c:bubble3D val="0"/>
            <c:spPr>
              <a:solidFill>
                <a:srgbClr val="1B7A8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1DD-4E8A-8058-CC44257D0DD1}"/>
              </c:ext>
            </c:extLst>
          </c:dPt>
          <c:dPt>
            <c:idx val="4"/>
            <c:invertIfNegative val="0"/>
            <c:bubble3D val="0"/>
            <c:spPr>
              <a:solidFill>
                <a:srgbClr val="0E3B4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1DD-4E8A-8058-CC44257D0DD1}"/>
              </c:ext>
            </c:extLst>
          </c:dPt>
          <c:dLbls>
            <c:numFmt formatCode="0.0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E3B43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Decision Tree</c:v>
                </c:pt>
                <c:pt idx="1">
                  <c:v>Random Forest</c:v>
                </c:pt>
                <c:pt idx="2">
                  <c:v>K-Nearest Neighbours</c:v>
                </c:pt>
                <c:pt idx="3">
                  <c:v>SVM (RBF)</c:v>
                </c:pt>
                <c:pt idx="4">
                  <c:v>Logistic Regression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0.65100000000000002</c:v>
                </c:pt>
                <c:pt idx="1">
                  <c:v>0.82099999999999995</c:v>
                </c:pt>
                <c:pt idx="2">
                  <c:v>0.82199999999999995</c:v>
                </c:pt>
                <c:pt idx="3">
                  <c:v>0.83299999999999996</c:v>
                </c:pt>
                <c:pt idx="4">
                  <c:v>0.84299999999999997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1DD-4E8A-8058-CC44257D0DD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E3B4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EDF2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AAAAE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58605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Course project comparing five ML algorithms for diabetes screening on the Pima Indians dataset.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asymmetry of the two errors is the premise for everything later — it is why accuracy is the wrong target and why the threshold gets moved.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objectives, in the order the report follows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768 patients, 8 features, 35% positive. The narrow population is the single biggest limitation and comes back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Nearly half of the insulin column and 30% of skin-fold thickness are missing values disguised as zeros. This single fix matters more than the choice of algorithm.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Imputation lives inside the pipeline so the median is recomputed within every CV fold. The test set is touched exactly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majority-class baseline is 65% accuracy. Every accuracy number later has to beat that to mean anything.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Kernel density estimates per feature, split by outcome, with missing values excluded. Glucose is the standout separator.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five share the same pipeline, so differences are attributable to the algorithm. The single decision tree is the clear outlier.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metrics side by side. The recall gap is the thing to point at — it sets up the threshold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only time the test set is used. Ranking is broadly consistent with cross-validation, which is reassuring.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models were tuned. SVM wins on cross-validated ROC-AUC; the three test scores are within 0.003 of each other.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model, same probabilities — only the cut-off moved. Accuracy barely notices; recall moves 31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Confusion matrices at 0.50 and at 0.285. False negatives drop from 27 to 10; false positives rise from 18 to 33.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SHAP beeswarm on the tuned SVM. Ranking matches permutation importance, and the direction of effect is clinically sensible.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 demo of the Streamlit app. Show the default patient, then raise glucose to 190 to cross the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direct about scope. The narrow population and the absence of external validation are the two that matter most.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framing: the win came from preprocessing and threshold choice, not from a fancier algorithm.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you slide with the repository 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3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960120"/>
            <a:ext cx="1371600" cy="384048"/>
          </a:xfrm>
          <a:prstGeom prst="roundRect">
            <a:avLst>
              <a:gd name="adj" fmla="val 95238"/>
            </a:avLst>
          </a:prstGeom>
          <a:solidFill>
            <a:srgbClr val="16535E"/>
          </a:solidFill>
          <a:ln w="12700">
            <a:solidFill>
              <a:srgbClr val="16535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9601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9FD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822960" y="1600200"/>
            <a:ext cx="8778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Diabetes Prediction from</a:t>
            </a:r>
            <a:endParaRPr lang="en-US" sz="4000" dirty="0"/>
          </a:p>
          <a:p>
            <a:pPr marL="0" indent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Measurements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429000"/>
            <a:ext cx="8778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i="1" dirty="0">
                <a:solidFill>
                  <a:srgbClr val="9FD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five machine learning algorithms on the Pima Indians dataset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4434840"/>
            <a:ext cx="5852160" cy="1371600"/>
          </a:xfrm>
          <a:prstGeom prst="roundRect">
            <a:avLst>
              <a:gd name="adj" fmla="val 4000"/>
            </a:avLst>
          </a:prstGeom>
          <a:solidFill>
            <a:srgbClr val="16535E"/>
          </a:solidFill>
          <a:ln w="12700">
            <a:solidFill>
              <a:srgbClr val="1653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7280" y="452628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2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Shahd Sameh Safwat</a:t>
            </a:r>
            <a:endParaRPr lang="en-US" sz="17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300" dirty="0">
                <a:solidFill>
                  <a:srgbClr val="9FD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231002256</a:t>
            </a:r>
            <a:endParaRPr lang="en-US" sz="1700" dirty="0"/>
          </a:p>
          <a:p>
            <a:pPr marL="0" indent="0">
              <a:lnSpc>
                <a:spcPts val="2200"/>
              </a:lnSpc>
              <a:buNone/>
            </a:pPr>
            <a:r>
              <a:rPr lang="en-US" sz="1200" dirty="0">
                <a:solidFill>
                  <a:srgbClr val="B9C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Mining &amp; Machine Learning  ·  Instructor: Dr. Muhammad Elsayeh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27048"/>
            <a:ext cx="365760" cy="365760"/>
          </a:xfrm>
          <a:prstGeom prst="roundRect">
            <a:avLst>
              <a:gd name="adj" fmla="val 62500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270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07008" y="1572768"/>
            <a:ext cx="4690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 onset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07008" y="1865376"/>
            <a:ext cx="46908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2 diabetes develops silently. By the time symptoms appear, damage to the kidneys, retina and nerves is often already underway.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2944368"/>
            <a:ext cx="365760" cy="365760"/>
          </a:xfrm>
          <a:prstGeom prst="roundRect">
            <a:avLst>
              <a:gd name="adj" fmla="val 62500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2944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207008" y="2990088"/>
            <a:ext cx="4690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is expensive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07008" y="3282696"/>
            <a:ext cx="46908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Screening programmes exist for this reason — but a full diagnostic workup is expensive and cannot be given to everyone.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361688"/>
            <a:ext cx="365760" cy="365760"/>
          </a:xfrm>
          <a:prstGeom prst="roundRect">
            <a:avLst>
              <a:gd name="adj" fmla="val 62500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3616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207008" y="4407408"/>
            <a:ext cx="4690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07008" y="4700016"/>
            <a:ext cx="469087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cheap triage step that flags who most needs that workup, using measurements already taken at a routine visit.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309360" y="1572768"/>
            <a:ext cx="5242255" cy="4114800"/>
          </a:xfrm>
          <a:prstGeom prst="roundRect">
            <a:avLst>
              <a:gd name="adj" fmla="val 1778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29400" y="1828800"/>
            <a:ext cx="46021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two errors are not equally costly</a:t>
            </a:r>
            <a:endParaRPr lang="en-US" sz="1900" dirty="0"/>
          </a:p>
        </p:txBody>
      </p:sp>
      <p:sp>
        <p:nvSpPr>
          <p:cNvPr id="20" name="Shape 18"/>
          <p:cNvSpPr/>
          <p:nvPr/>
        </p:nvSpPr>
        <p:spPr>
          <a:xfrm>
            <a:off x="6629400" y="2377440"/>
            <a:ext cx="4602175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0" y="2542032"/>
            <a:ext cx="4144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positive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0" y="2834640"/>
            <a:ext cx="4144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healthy patient goes for one extra blood test.  Inconvenient.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629400" y="3886200"/>
            <a:ext cx="4602175" cy="1463040"/>
          </a:xfrm>
          <a:prstGeom prst="roundRect">
            <a:avLst>
              <a:gd name="adj" fmla="val 5000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0" y="4050792"/>
            <a:ext cx="41449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15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negative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0" y="4343400"/>
            <a:ext cx="41449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350" dirty="0">
                <a:solidFill>
                  <a:srgbClr val="7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undiagnosed diabetic is sent home reassured.  Serious.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project set out to do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600200"/>
            <a:ext cx="5227168" cy="1170432"/>
          </a:xfrm>
          <a:prstGeom prst="roundRect">
            <a:avLst>
              <a:gd name="adj" fmla="val 6250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929384"/>
            <a:ext cx="502920" cy="502920"/>
          </a:xfrm>
          <a:prstGeom prst="roundRect">
            <a:avLst>
              <a:gd name="adj" fmla="val 45455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929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1746504"/>
            <a:ext cx="399272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a dataset where missing values were silently recorded as zeros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24448" y="1600200"/>
            <a:ext cx="5227168" cy="1170432"/>
          </a:xfrm>
          <a:prstGeom prst="roundRect">
            <a:avLst>
              <a:gd name="adj" fmla="val 6250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98768" y="1929384"/>
            <a:ext cx="502920" cy="502920"/>
          </a:xfrm>
          <a:prstGeom prst="roundRect">
            <a:avLst>
              <a:gd name="adj" fmla="val 45455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98768" y="192938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284568" y="1746504"/>
            <a:ext cx="399272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how each measurement relates to diabetes status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40080" y="3063240"/>
            <a:ext cx="5227168" cy="1170432"/>
          </a:xfrm>
          <a:prstGeom prst="roundRect">
            <a:avLst>
              <a:gd name="adj" fmla="val 6250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3392424"/>
            <a:ext cx="502920" cy="502920"/>
          </a:xfrm>
          <a:prstGeom prst="roundRect">
            <a:avLst>
              <a:gd name="adj" fmla="val 45455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3392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600200" y="3209544"/>
            <a:ext cx="399272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and compare five algorithms from the course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324448" y="3063240"/>
            <a:ext cx="5227168" cy="1170432"/>
          </a:xfrm>
          <a:prstGeom prst="roundRect">
            <a:avLst>
              <a:gd name="adj" fmla="val 6250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598768" y="3392424"/>
            <a:ext cx="502920" cy="502920"/>
          </a:xfrm>
          <a:prstGeom prst="roundRect">
            <a:avLst>
              <a:gd name="adj" fmla="val 45455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98768" y="33924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284568" y="3209544"/>
            <a:ext cx="399272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with metrics suited to imbalanced medical screening — not accuracy alone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40080" y="4526280"/>
            <a:ext cx="5227168" cy="1170432"/>
          </a:xfrm>
          <a:prstGeom prst="roundRect">
            <a:avLst>
              <a:gd name="adj" fmla="val 6250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14400" y="4855464"/>
            <a:ext cx="502920" cy="502920"/>
          </a:xfrm>
          <a:prstGeom prst="roundRect">
            <a:avLst>
              <a:gd name="adj" fmla="val 45455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48554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600200" y="4672584"/>
            <a:ext cx="399272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Tune the best model and choose a threshold appropriate for screening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324448" y="4526280"/>
            <a:ext cx="5227168" cy="1170432"/>
          </a:xfrm>
          <a:prstGeom prst="roundRect">
            <a:avLst>
              <a:gd name="adj" fmla="val 6250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98768" y="4855464"/>
            <a:ext cx="502920" cy="502920"/>
          </a:xfrm>
          <a:prstGeom prst="roundRect">
            <a:avLst>
              <a:gd name="adj" fmla="val 45455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98768" y="485546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7284568" y="4672584"/>
            <a:ext cx="3992728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why the model predicts what it predicts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dataset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Pima Indians Diabetes Database — UCI / NIDDK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72768"/>
            <a:ext cx="2487854" cy="1691640"/>
          </a:xfrm>
          <a:prstGeom prst="roundRect">
            <a:avLst>
              <a:gd name="adj" fmla="val 4324"/>
            </a:avLst>
          </a:prstGeom>
          <a:solidFill>
            <a:srgbClr val="E8F1F1"/>
          </a:solidFill>
          <a:ln w="12700">
            <a:solidFill>
              <a:srgbClr val="E8F1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55648"/>
            <a:ext cx="24878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768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640080" y="2670048"/>
            <a:ext cx="24878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447974" y="1572768"/>
            <a:ext cx="2487854" cy="1691640"/>
          </a:xfrm>
          <a:prstGeom prst="roundRect">
            <a:avLst>
              <a:gd name="adj" fmla="val 4324"/>
            </a:avLst>
          </a:prstGeom>
          <a:solidFill>
            <a:srgbClr val="E8F1F1"/>
          </a:solidFill>
          <a:ln w="12700">
            <a:solidFill>
              <a:srgbClr val="E8F1F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47974" y="1755648"/>
            <a:ext cx="24878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400" dirty="0"/>
          </a:p>
        </p:txBody>
      </p:sp>
      <p:sp>
        <p:nvSpPr>
          <p:cNvPr id="11" name="Text 9"/>
          <p:cNvSpPr/>
          <p:nvPr/>
        </p:nvSpPr>
        <p:spPr>
          <a:xfrm>
            <a:off x="3447974" y="2670048"/>
            <a:ext cx="24878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55868" y="1572768"/>
            <a:ext cx="2487854" cy="1691640"/>
          </a:xfrm>
          <a:prstGeom prst="roundRect">
            <a:avLst>
              <a:gd name="adj" fmla="val 4324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55868" y="1755648"/>
            <a:ext cx="24878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D15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35%</a:t>
            </a:r>
            <a:endParaRPr lang="en-US" sz="5400" dirty="0"/>
          </a:p>
        </p:txBody>
      </p:sp>
      <p:sp>
        <p:nvSpPr>
          <p:cNvPr id="14" name="Text 12"/>
          <p:cNvSpPr/>
          <p:nvPr/>
        </p:nvSpPr>
        <p:spPr>
          <a:xfrm>
            <a:off x="6255868" y="2670048"/>
            <a:ext cx="24878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7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have diabetes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9063761" y="1572768"/>
            <a:ext cx="2487854" cy="1691640"/>
          </a:xfrm>
          <a:prstGeom prst="roundRect">
            <a:avLst>
              <a:gd name="adj" fmla="val 4324"/>
            </a:avLst>
          </a:prstGeom>
          <a:solidFill>
            <a:srgbClr val="E8F1F1"/>
          </a:solidFill>
          <a:ln w="12700">
            <a:solidFill>
              <a:srgbClr val="E8F1F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063761" y="1755648"/>
            <a:ext cx="248785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21+</a:t>
            </a:r>
            <a:endParaRPr lang="en-US" sz="5400" dirty="0"/>
          </a:p>
        </p:txBody>
      </p:sp>
      <p:sp>
        <p:nvSpPr>
          <p:cNvPr id="17" name="Text 15"/>
          <p:cNvSpPr/>
          <p:nvPr/>
        </p:nvSpPr>
        <p:spPr>
          <a:xfrm>
            <a:off x="9063761" y="2670048"/>
            <a:ext cx="248785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women, Pima heritage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3520440"/>
            <a:ext cx="10911535" cy="2103120"/>
          </a:xfrm>
          <a:prstGeom prst="roundRect">
            <a:avLst>
              <a:gd name="adj" fmla="val 3478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05840" y="3703320"/>
            <a:ext cx="101800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600"/>
              </a:lnSpc>
              <a:buNone/>
            </a:pPr>
            <a:r>
              <a:rPr lang="en-US" sz="145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measurements: </a:t>
            </a:r>
            <a:r>
              <a:rPr lang="en-US" sz="14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pregnancies, plasma glucose, blood pressure, skin-fold thickness, serum insulin, BMI, family-history score, age.</a:t>
            </a:r>
            <a:endParaRPr lang="en-US" sz="145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45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</a:t>
            </a:r>
            <a:r>
              <a:rPr lang="en-US" sz="14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 — 1 = diabetes, 0 = no diabetes.  500 negative / 268 positive.</a:t>
            </a:r>
            <a:endParaRPr lang="en-US" sz="1450" dirty="0"/>
          </a:p>
          <a:p>
            <a:pPr marL="0" indent="0">
              <a:lnSpc>
                <a:spcPts val="2600"/>
              </a:lnSpc>
              <a:buNone/>
            </a:pPr>
            <a:r>
              <a:rPr lang="en-US" sz="145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patients are women of Pima heritage aged 21+ near Phoenix, Arizona — a narrow population, revisited in the limitations.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1: the zeros are not zeros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important preprocessing step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6002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200"/>
              </a:lnSpc>
              <a:buNone/>
            </a:pPr>
            <a:r>
              <a:rPr lang="en-US" sz="150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columns report a minimum of 0 — glucose, blood pressure, skin thickness, insulin, BMI. None is biologically possible in a living patient.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697480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missing measurements that were never marked as missing. Left alone, a model reads insulin = 0 as a real, extremely low reading — the opposite of the truth.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3977640"/>
            <a:ext cx="5120640" cy="1691640"/>
          </a:xfrm>
          <a:prstGeom prst="roundRect">
            <a:avLst>
              <a:gd name="adj" fmla="val 4324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41605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D15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Dropping incomplete rows would throw away nearly half the dataset.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60120" y="475488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7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Instead: mark as NaN, then impute the median inside the model pipeline.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737360"/>
          <a:ext cx="5242255" cy="2852928"/>
        </p:xfrm>
        <a:graphic>
          <a:graphicData uri="http://schemas.openxmlformats.org/drawingml/2006/table">
            <a:tbl>
              <a:tblPr/>
              <a:tblGrid>
                <a:gridCol w="2621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581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29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Column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Zeros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of rows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Insulin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D15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D15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SkinThickness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D15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b="1" dirty="0">
                          <a:solidFill>
                            <a:srgbClr val="D15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BloodPressure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BMI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Glucose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0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how we avoided cheating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3179978" cy="777240"/>
          </a:xfrm>
          <a:prstGeom prst="roundRect">
            <a:avLst>
              <a:gd name="adj" fmla="val 14118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554480"/>
            <a:ext cx="31799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Impute (median)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20058" y="1554480"/>
            <a:ext cx="685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05858" y="1554480"/>
            <a:ext cx="3179978" cy="777240"/>
          </a:xfrm>
          <a:prstGeom prst="roundRect">
            <a:avLst>
              <a:gd name="adj" fmla="val 14118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05858" y="1554480"/>
            <a:ext cx="31799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(StandardScaler)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685837" y="1554480"/>
            <a:ext cx="685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1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8371637" y="1554480"/>
            <a:ext cx="3179978" cy="777240"/>
          </a:xfrm>
          <a:prstGeom prst="roundRect">
            <a:avLst>
              <a:gd name="adj" fmla="val 14118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71637" y="1554480"/>
            <a:ext cx="317997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2395728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estimator, identical for all five algorithms.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2834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places this project could have quietly cheated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40080" y="3310128"/>
            <a:ext cx="3393338" cy="2331720"/>
          </a:xfrm>
          <a:prstGeom prst="roundRect">
            <a:avLst>
              <a:gd name="adj" fmla="val 3137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54787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547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14400" y="4133088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Imputation inside the pipeline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14400" y="466344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the median over all 768 rows and then splitting would leak test data into training and inflate every score.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399178" y="3310128"/>
            <a:ext cx="3393338" cy="2331720"/>
          </a:xfrm>
          <a:prstGeom prst="roundRect">
            <a:avLst>
              <a:gd name="adj" fmla="val 3137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73498" y="354787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73498" y="3547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673498" y="4133088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Winner chosen on CV score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673498" y="466344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winner was chosen on cross-validated training score, never on test performance. Picking by test score is model selection on the test set.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158277" y="3310128"/>
            <a:ext cx="3393338" cy="2331720"/>
          </a:xfrm>
          <a:prstGeom prst="roundRect">
            <a:avLst>
              <a:gd name="adj" fmla="val 3137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32597" y="354787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32597" y="3547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432597" y="4133088"/>
            <a:ext cx="28446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from out-of-fold predictions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8432597" y="4663440"/>
            <a:ext cx="28446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700"/>
              </a:lnSpc>
              <a:buNone/>
            </a:pPr>
            <a:r>
              <a:rPr lang="en-US" sz="12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 was chosen from out-of-fold training predictions. The test set was used exactly once, at the very end.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Exploratory data analysis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balance and missing data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6" name="Image 0" descr="/home/claude/work/img/fig-00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9608" y="1536192"/>
            <a:ext cx="8412480" cy="3748877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539496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5394960"/>
            <a:ext cx="102714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D15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that always says "no diabetes" scores 65% accuracy and catches zero diabetics.  </a:t>
            </a:r>
            <a:r>
              <a:rPr lang="en-US" sz="1400" dirty="0">
                <a:solidFill>
                  <a:srgbClr val="7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benchmark every accuracy figure must be read against.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measurements separate the groups?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pic>
        <p:nvPicPr>
          <p:cNvPr id="5" name="Image 0" descr="/home/claude/work/img/fig-0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2408" y="1207008"/>
            <a:ext cx="9326880" cy="42100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50468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Glucose separates the two groups most clearly. BMI and Age shift moderately.</a:t>
            </a:r>
            <a:endParaRPr lang="en-US" sz="1400" dirty="0"/>
          </a:p>
          <a:p>
            <a:pPr marL="0" indent="0" algn="ctr">
              <a:lnSpc>
                <a:spcPts val="2000"/>
              </a:lnSpc>
              <a:buNone/>
            </a:pPr>
            <a:r>
              <a:rPr lang="en-US" sz="14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BloodPressure and SkinThickness overlap almost entirely — they will contribute little.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algorithms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in the identical impute → scale → classify pipeline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627632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640080" y="1901952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 baseline, interpretable coefficients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(RBF)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margin with a non-linear kernel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640080" y="33101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K-Nearest Neighbours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40080" y="3584448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Non-parametric, purely local decision rule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640080" y="415137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0080" y="4425696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Bagged ensemble of 300 trees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0080" y="499262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Tree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640080" y="5266944"/>
            <a:ext cx="4480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00"/>
              </a:lnSpc>
              <a:buNone/>
            </a:pPr>
            <a:r>
              <a:rPr lang="en-US" sz="12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Interpretable rules, reference for the ensemble</a:t>
            </a:r>
            <a:endParaRPr lang="en-US" sz="125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5532120" y="1481328"/>
          <a:ext cx="6019495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7" name="Text 14"/>
          <p:cNvSpPr/>
          <p:nvPr/>
        </p:nvSpPr>
        <p:spPr>
          <a:xfrm>
            <a:off x="640080" y="57607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5-fold cross-validation on the training set only — the test set stays sealed.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comparison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Cross-validated on the training set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6" name="Image 0" descr="/home/claude/work/img/fig-0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26768" y="1536192"/>
            <a:ext cx="8138160" cy="359036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5230368"/>
            <a:ext cx="10911535" cy="868680"/>
          </a:xfrm>
          <a:prstGeom prst="roundRect">
            <a:avLst>
              <a:gd name="adj" fmla="val 8421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5230368"/>
            <a:ext cx="10271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400" b="1" dirty="0">
                <a:solidFill>
                  <a:srgbClr val="D15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Notice: recall is far below accuracy for every single model.</a:t>
            </a:r>
            <a:endParaRPr lang="en-US" sz="1400" dirty="0"/>
          </a:p>
          <a:p>
            <a:pPr marL="0" indent="0" algn="ctr">
              <a:lnSpc>
                <a:spcPts val="2000"/>
              </a:lnSpc>
              <a:buNone/>
            </a:pPr>
            <a:r>
              <a:rPr lang="en-US" sz="1400" dirty="0">
                <a:solidFill>
                  <a:srgbClr val="7A34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default cut-off these classifiers catch only about 55–60% of diabetics.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Held-out test set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curves — the test set's one and only use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6" name="Image 0" descr="/home/claude/work/img/fig-0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481328"/>
            <a:ext cx="5029200" cy="4493023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737360"/>
          <a:ext cx="5333695" cy="2743200"/>
        </p:xfrm>
        <a:graphic>
          <a:graphicData uri="http://schemas.openxmlformats.org/drawingml/2006/table">
            <a:tbl>
              <a:tblPr/>
              <a:tblGrid>
                <a:gridCol w="213347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34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134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734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Acc.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0.537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b="1" dirty="0">
                          <a:solidFill>
                            <a:srgbClr val="1B7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b="1" dirty="0">
                          <a:solidFill>
                            <a:srgbClr val="1B7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0.813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SVM (RBF)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0.740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b="1" dirty="0">
                          <a:solidFill>
                            <a:srgbClr val="1B7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K-Nearest Neighbours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0.574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b="1" dirty="0">
                          <a:solidFill>
                            <a:srgbClr val="1B7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0.788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Tree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0.682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0.481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350" b="1" dirty="0">
                          <a:solidFill>
                            <a:srgbClr val="1B7A8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0.636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6217920" y="4892040"/>
            <a:ext cx="5333695" cy="1188720"/>
          </a:xfrm>
          <a:prstGeom prst="roundRect">
            <a:avLst>
              <a:gd name="adj" fmla="val 6154"/>
            </a:avLst>
          </a:prstGeom>
          <a:solidFill>
            <a:srgbClr val="E8F1F1"/>
          </a:solidFill>
          <a:ln w="12700">
            <a:solidFill>
              <a:srgbClr val="E8F1F1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537960" y="4892040"/>
            <a:ext cx="46936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en-US" sz="135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of the five curves sit close together. Recall at the default cut-off never reaches 0.58 — no model is screening-ready out of the box.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Hyperparameter tuning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GridSearchCV, scored on ROC-AUC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10911535" cy="868680"/>
          </a:xfrm>
          <a:prstGeom prst="roundRect">
            <a:avLst>
              <a:gd name="adj" fmla="val 8421"/>
            </a:avLst>
          </a:prstGeom>
          <a:solidFill>
            <a:srgbClr val="E8F1F1"/>
          </a:solidFill>
          <a:ln w="12700">
            <a:solidFill>
              <a:srgbClr val="E8F1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554480"/>
            <a:ext cx="1027145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35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 are scored on ROC-AUC, not recall. Optimising directly on recall rewards models that just predict "diabetic" more often — in the limit, flagging everyone scores perfect recall. ROC-AUC ranks models independently of the threshold.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2651760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77977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960120" y="310896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668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C=0.1,  class_weight=balanced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619695" y="277977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ROC-AUC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619695" y="3054096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0.8450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9585655" y="277977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ROC-AUC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9585655" y="3054096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0.8104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40080" y="3730752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85876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960120" y="418795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668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class_weight=None,  max_depth=5,  min_samples_leaf=3,  n_estimators=400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619695" y="385876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ROC-AUC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619695" y="41330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0.8388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585655" y="3858768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ROC-AUC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585655" y="4133088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0.8119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40080" y="4809744"/>
            <a:ext cx="10911535" cy="960120"/>
          </a:xfrm>
          <a:prstGeom prst="roundRect">
            <a:avLst>
              <a:gd name="adj" fmla="val 7619"/>
            </a:avLst>
          </a:prstGeom>
          <a:solidFill>
            <a:srgbClr val="D6E9E7"/>
          </a:solidFill>
          <a:ln w="12700">
            <a:solidFill>
              <a:srgbClr val="D6E9E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60120" y="49377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(RBF)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960120" y="5266944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400"/>
              </a:lnSpc>
              <a:buNone/>
            </a:pPr>
            <a:r>
              <a:rPr lang="en-US" sz="1050" dirty="0">
                <a:solidFill>
                  <a:srgbClr val="56686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C=1,  class_weight=balanced,  gamma=0.01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619695" y="493776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 ROC-AUC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619695" y="52120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B7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0.8493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585655" y="4937760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ROC-AUC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9585655" y="521208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B7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0.8096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640080" y="58064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Selected:  </a:t>
            </a:r>
            <a:r>
              <a:rPr lang="en-US" sz="1450" b="1" dirty="0">
                <a:solidFill>
                  <a:srgbClr val="D15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SVM (RBF)</a:t>
            </a:r>
            <a:r>
              <a:rPr lang="en-US" sz="145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CV ROC-AUC 0.849,  test ROC-AUC 0.810</a:t>
            </a:r>
            <a:endParaRPr lang="en-US" sz="14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Finding 2: the threshold is the real result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marks are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1572768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predict() flags a patient at probability 0.50. That cut-off maximises accuracy — the wrong target for screening. We chose the threshold from out-of-fold training predictions to reach 80% recall.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77440"/>
          <a:ext cx="10911535" cy="1591056"/>
        </p:xfrm>
        <a:graphic>
          <a:graphicData uri="http://schemas.openxmlformats.org/drawingml/2006/table">
            <a:tbl>
              <a:tblPr/>
              <a:tblGrid>
                <a:gridCol w="28369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496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549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458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6187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point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Missed diabetics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 0.50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0.708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0.600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0.500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 of 54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Chosen  0.285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0.721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50" dirty="0">
                          <a:solidFill>
                            <a:srgbClr val="0E3B4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0.571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50" b="1" dirty="0">
                          <a:solidFill>
                            <a:srgbClr val="D15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0.815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1450" b="1" dirty="0">
                          <a:solidFill>
                            <a:srgbClr val="D152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of 54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A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434840"/>
            <a:ext cx="3393338" cy="1298448"/>
          </a:xfrm>
          <a:prstGeom prst="roundRect">
            <a:avLst>
              <a:gd name="adj" fmla="val 5634"/>
            </a:avLst>
          </a:prstGeom>
          <a:solidFill>
            <a:srgbClr val="E8F1F1"/>
          </a:solidFill>
          <a:ln w="12700">
            <a:solidFill>
              <a:srgbClr val="E8F1F1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4553712"/>
            <a:ext cx="33933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B7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+1.3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640080" y="5285232"/>
            <a:ext cx="3393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accuracy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99178" y="4434840"/>
            <a:ext cx="3393338" cy="1298448"/>
          </a:xfrm>
          <a:prstGeom prst="roundRect">
            <a:avLst>
              <a:gd name="adj" fmla="val 5634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99178" y="4553712"/>
            <a:ext cx="33933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15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+31</a:t>
            </a:r>
            <a:endParaRPr lang="en-US" sz="4000" dirty="0"/>
          </a:p>
        </p:txBody>
      </p:sp>
      <p:sp>
        <p:nvSpPr>
          <p:cNvPr id="13" name="Text 10"/>
          <p:cNvSpPr/>
          <p:nvPr/>
        </p:nvSpPr>
        <p:spPr>
          <a:xfrm>
            <a:off x="4399178" y="5285232"/>
            <a:ext cx="3393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points of recall</a:t>
            </a:r>
            <a:endParaRPr lang="en-US" sz="1300" dirty="0"/>
          </a:p>
        </p:txBody>
      </p:sp>
      <p:sp>
        <p:nvSpPr>
          <p:cNvPr id="7" name="Shape 11"/>
          <p:cNvSpPr/>
          <p:nvPr/>
        </p:nvSpPr>
        <p:spPr>
          <a:xfrm>
            <a:off x="8158277" y="4434840"/>
            <a:ext cx="3393338" cy="1298448"/>
          </a:xfrm>
          <a:prstGeom prst="roundRect">
            <a:avLst>
              <a:gd name="adj" fmla="val 5634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158277" y="4553712"/>
            <a:ext cx="33933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15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 → 10</a:t>
            </a:r>
            <a:endParaRPr lang="en-US" sz="4000" dirty="0"/>
          </a:p>
        </p:txBody>
      </p:sp>
      <p:sp>
        <p:nvSpPr>
          <p:cNvPr id="16" name="Text 13"/>
          <p:cNvSpPr/>
          <p:nvPr/>
        </p:nvSpPr>
        <p:spPr>
          <a:xfrm>
            <a:off x="8158277" y="5285232"/>
            <a:ext cx="33933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diabetics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40080" y="5852160"/>
            <a:ext cx="1091153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was simply not measuring the thing we care about — the whole gain cost 2.9 points of precision.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model, two operating points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pic>
        <p:nvPicPr>
          <p:cNvPr id="5" name="Image 0" descr="/home/claude/work/img/fig-0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8168" y="1234440"/>
            <a:ext cx="8595360" cy="3640865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920240" y="5257800"/>
            <a:ext cx="8351215" cy="777240"/>
          </a:xfrm>
          <a:prstGeom prst="roundRect">
            <a:avLst>
              <a:gd name="adj" fmla="val 9412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920240" y="5257800"/>
            <a:ext cx="8351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15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Bottom-left cell = diabetics the model sent home.  That is the number to watch.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Explainability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Permutation importance and SHAP agree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pic>
        <p:nvPicPr>
          <p:cNvPr id="6" name="Image 0" descr="/home/claude/work/img/fig-0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72768"/>
            <a:ext cx="6766560" cy="385142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863840" y="1746504"/>
            <a:ext cx="128016" cy="128016"/>
          </a:xfrm>
          <a:prstGeom prst="ellipse">
            <a:avLst/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138160" y="1627632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dot is one patient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7863840" y="2157984"/>
            <a:ext cx="128016" cy="128016"/>
          </a:xfrm>
          <a:prstGeom prst="ellipse">
            <a:avLst/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138160" y="2039112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= pushed towards diabetes</a:t>
            </a:r>
            <a:endParaRPr lang="en-US" sz="1350" dirty="0"/>
          </a:p>
        </p:txBody>
      </p:sp>
      <p:sp>
        <p:nvSpPr>
          <p:cNvPr id="11" name="Shape 8"/>
          <p:cNvSpPr/>
          <p:nvPr/>
        </p:nvSpPr>
        <p:spPr>
          <a:xfrm>
            <a:off x="7863840" y="2569464"/>
            <a:ext cx="128016" cy="128016"/>
          </a:xfrm>
          <a:prstGeom prst="ellipse">
            <a:avLst/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38160" y="2450592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= high value, blue = low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7863840" y="3200400"/>
            <a:ext cx="3687775" cy="2514600"/>
          </a:xfrm>
          <a:prstGeom prst="roundRect">
            <a:avLst>
              <a:gd name="adj" fmla="val 2909"/>
            </a:avLst>
          </a:prstGeom>
          <a:solidFill>
            <a:srgbClr val="E8F1F1"/>
          </a:solidFill>
          <a:ln w="12700">
            <a:solidFill>
              <a:srgbClr val="E8F1F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38160" y="3383280"/>
            <a:ext cx="31391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B7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Glucose, then BMI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8138160" y="3794760"/>
            <a:ext cx="3139135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900"/>
              </a:lnSpc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glucose pushes towards diabetes; low glucose pulls back. The direction is clinically correct — a model with the right accuracy but an inverted relationship would be dangerous, and this plot would expose it.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demonstration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Bonus: Streamlit prediction app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778508"/>
            <a:ext cx="384048" cy="384048"/>
          </a:xfrm>
          <a:prstGeom prst="roundRect">
            <a:avLst>
              <a:gd name="adj" fmla="val 59524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7785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25296" y="1627632"/>
            <a:ext cx="5266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 eight measurements on the sidebar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2647188"/>
            <a:ext cx="384048" cy="384048"/>
          </a:xfrm>
          <a:prstGeom prst="roundRect">
            <a:avLst>
              <a:gd name="adj" fmla="val 59524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471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225296" y="2496312"/>
            <a:ext cx="5266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a predicted probability and a screening decision at the tuned threshold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515868"/>
            <a:ext cx="384048" cy="384048"/>
          </a:xfrm>
          <a:prstGeom prst="roundRect">
            <a:avLst>
              <a:gd name="adj" fmla="val 59524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5158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25296" y="3364992"/>
            <a:ext cx="5266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how the patient compares to the population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4384548"/>
            <a:ext cx="384048" cy="384048"/>
          </a:xfrm>
          <a:prstGeom prst="roundRect">
            <a:avLst>
              <a:gd name="adj" fmla="val 59524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3845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25296" y="4233672"/>
            <a:ext cx="52669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en-US" sz="1400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 per-patient SHAP explanation of that specific prediction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949440" y="1572768"/>
            <a:ext cx="4602175" cy="1051560"/>
          </a:xfrm>
          <a:prstGeom prst="roundRect">
            <a:avLst>
              <a:gd name="adj" fmla="val 6957"/>
            </a:avLst>
          </a:prstGeom>
          <a:solidFill>
            <a:srgbClr val="0E3B43"/>
          </a:solidFill>
          <a:ln w="12700">
            <a:solidFill>
              <a:srgbClr val="0E3B4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269480" y="1572768"/>
            <a:ext cx="396209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9FD8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 streamlit run src/app.py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949440" y="2834640"/>
            <a:ext cx="4602175" cy="1280160"/>
          </a:xfrm>
          <a:prstGeom prst="roundRect">
            <a:avLst>
              <a:gd name="adj" fmla="val 5714"/>
            </a:avLst>
          </a:prstGeom>
          <a:solidFill>
            <a:srgbClr val="E8F1F1"/>
          </a:solidFill>
          <a:ln w="12700">
            <a:solidFill>
              <a:srgbClr val="E8F1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69480" y="2999232"/>
            <a:ext cx="2407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patient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7269480" y="3383280"/>
            <a:ext cx="2407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B7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flagged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722815" y="310896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1B7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23.5%</a:t>
            </a:r>
            <a:endParaRPr lang="en-US" sz="3000" dirty="0"/>
          </a:p>
        </p:txBody>
      </p:sp>
      <p:sp>
        <p:nvSpPr>
          <p:cNvPr id="24" name="Shape 22"/>
          <p:cNvSpPr/>
          <p:nvPr/>
        </p:nvSpPr>
        <p:spPr>
          <a:xfrm>
            <a:off x="6949440" y="4251960"/>
            <a:ext cx="4602175" cy="1280160"/>
          </a:xfrm>
          <a:prstGeom prst="roundRect">
            <a:avLst>
              <a:gd name="adj" fmla="val 5714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69480" y="4416552"/>
            <a:ext cx="2407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glucose to 190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269480" y="4800600"/>
            <a:ext cx="24076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D15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 for confirmatory testing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722815" y="4526280"/>
            <a:ext cx="1508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D152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78.6%</a:t>
            </a:r>
            <a:endParaRPr lang="en-US" sz="3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3138F69-94B8-30AC-96FA-A84AC907DB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9373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C965EF9-DB88-F212-90B6-A8E28E3B8B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51400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38912"/>
            <a:ext cx="109115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E3B4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24128"/>
            <a:ext cx="109115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i="1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model cannot do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CBIO313  ·  Diabetes Prediction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AAA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40080" y="1572768"/>
            <a:ext cx="10911535" cy="749808"/>
          </a:xfrm>
          <a:prstGeom prst="roundRect">
            <a:avLst>
              <a:gd name="adj" fmla="val 9756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1746504"/>
            <a:ext cx="402336" cy="402336"/>
          </a:xfrm>
          <a:prstGeom prst="roundRect">
            <a:avLst>
              <a:gd name="adj" fmla="val 56818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746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417320" y="1572768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population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17720" y="1572768"/>
            <a:ext cx="67052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768 patients, all women of Pima heritage aged 21+. Nothing transfers to men, other ethnicities, or younger patients.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2414016"/>
            <a:ext cx="10911535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" y="2587752"/>
            <a:ext cx="402336" cy="402336"/>
          </a:xfrm>
          <a:prstGeom prst="roundRect">
            <a:avLst>
              <a:gd name="adj" fmla="val 56818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58775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417320" y="2414016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Heavy imputation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17720" y="2414016"/>
            <a:ext cx="67052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49% of insulin and 30% of skin-fold values were filled in — and both rank near the bottom of the importance plots.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255264"/>
            <a:ext cx="10911535" cy="749808"/>
          </a:xfrm>
          <a:prstGeom prst="roundRect">
            <a:avLst>
              <a:gd name="adj" fmla="val 9756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68680" y="3429000"/>
            <a:ext cx="402336" cy="402336"/>
          </a:xfrm>
          <a:prstGeom prst="roundRect">
            <a:avLst>
              <a:gd name="adj" fmla="val 56818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34290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417320" y="3255264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Missingness is probably not random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617720" y="3255264"/>
            <a:ext cx="67052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imputation assumes it is.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40080" y="4096512"/>
            <a:ext cx="10911535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8680" y="4270248"/>
            <a:ext cx="402336" cy="402336"/>
          </a:xfrm>
          <a:prstGeom prst="roundRect">
            <a:avLst>
              <a:gd name="adj" fmla="val 56818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4270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17320" y="4096512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validation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4617720" y="4096512"/>
            <a:ext cx="67052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154-patient test split, so the interval around a recall of 0.81 is wide.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4937760"/>
            <a:ext cx="10911535" cy="749808"/>
          </a:xfrm>
          <a:prstGeom prst="roundRect">
            <a:avLst>
              <a:gd name="adj" fmla="val 9756"/>
            </a:avLst>
          </a:prstGeom>
          <a:solidFill>
            <a:srgbClr val="F3F7F7"/>
          </a:solidFill>
          <a:ln w="12700">
            <a:solidFill>
              <a:srgbClr val="F3F7F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68680" y="5111496"/>
            <a:ext cx="402336" cy="402336"/>
          </a:xfrm>
          <a:prstGeom prst="roundRect">
            <a:avLst>
              <a:gd name="adj" fmla="val 56818"/>
            </a:avLst>
          </a:prstGeom>
          <a:solidFill>
            <a:srgbClr val="1B7A82"/>
          </a:solidFill>
          <a:ln w="12700">
            <a:solidFill>
              <a:srgbClr val="1B7A8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68680" y="5111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417320" y="4937760"/>
            <a:ext cx="3108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ceiling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617720" y="4937760"/>
            <a:ext cx="67052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700"/>
              </a:lnSpc>
              <a:buNone/>
            </a:pPr>
            <a:r>
              <a:rPr lang="en-US" sz="1300" dirty="0">
                <a:solidFill>
                  <a:srgbClr val="5668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coarse measurements carry limited signal. Better results need better features (HbA1c, fasting glucose), not fancier models.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5806440"/>
            <a:ext cx="10911535" cy="457200"/>
          </a:xfrm>
          <a:prstGeom prst="roundRect">
            <a:avLst>
              <a:gd name="adj" fmla="val 16000"/>
            </a:avLst>
          </a:prstGeom>
          <a:solidFill>
            <a:srgbClr val="FBEAE5"/>
          </a:solidFill>
          <a:ln w="12700">
            <a:solidFill>
              <a:srgbClr val="FBEAE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8064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152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 course project, not a medical device.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3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1153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2487854" cy="1645920"/>
          </a:xfrm>
          <a:prstGeom prst="roundRect">
            <a:avLst>
              <a:gd name="adj" fmla="val 4444"/>
            </a:avLst>
          </a:prstGeom>
          <a:solidFill>
            <a:srgbClr val="16535E"/>
          </a:solidFill>
          <a:ln w="12700">
            <a:solidFill>
              <a:srgbClr val="1653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0"/>
            <a:ext cx="24878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0.810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" y="2487168"/>
            <a:ext cx="24878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9FD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ROC-AUC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447974" y="1463040"/>
            <a:ext cx="2487854" cy="1645920"/>
          </a:xfrm>
          <a:prstGeom prst="roundRect">
            <a:avLst>
              <a:gd name="adj" fmla="val 4444"/>
            </a:avLst>
          </a:prstGeom>
          <a:solidFill>
            <a:srgbClr val="16535E"/>
          </a:solidFill>
          <a:ln w="12700">
            <a:solidFill>
              <a:srgbClr val="1653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47974" y="1645920"/>
            <a:ext cx="24878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81%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3447974" y="2487168"/>
            <a:ext cx="24878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9FD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diabetics caught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5868" y="1463040"/>
            <a:ext cx="2487854" cy="1645920"/>
          </a:xfrm>
          <a:prstGeom prst="roundRect">
            <a:avLst>
              <a:gd name="adj" fmla="val 4444"/>
            </a:avLst>
          </a:prstGeom>
          <a:solidFill>
            <a:srgbClr val="16535E"/>
          </a:solidFill>
          <a:ln w="12700">
            <a:solidFill>
              <a:srgbClr val="16535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55868" y="1645920"/>
            <a:ext cx="24878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 of 54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6255868" y="2487168"/>
            <a:ext cx="24878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9FD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missed, down from 27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063761" y="1463040"/>
            <a:ext cx="2487854" cy="1645920"/>
          </a:xfrm>
          <a:prstGeom prst="roundRect">
            <a:avLst>
              <a:gd name="adj" fmla="val 4444"/>
            </a:avLst>
          </a:prstGeom>
          <a:solidFill>
            <a:srgbClr val="16535E"/>
          </a:solidFill>
          <a:ln w="12700">
            <a:solidFill>
              <a:srgbClr val="1653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63761" y="1645920"/>
            <a:ext cx="24878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800" dirty="0"/>
          </a:p>
        </p:txBody>
      </p:sp>
      <p:sp>
        <p:nvSpPr>
          <p:cNvPr id="14" name="Text 12"/>
          <p:cNvSpPr/>
          <p:nvPr/>
        </p:nvSpPr>
        <p:spPr>
          <a:xfrm>
            <a:off x="9063761" y="2487168"/>
            <a:ext cx="24878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9FD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compared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85800" y="3721608"/>
            <a:ext cx="137160" cy="137160"/>
          </a:xfrm>
          <a:prstGeom prst="ellipse">
            <a:avLst/>
          </a:prstGeom>
          <a:solidFill>
            <a:srgbClr val="9FD8CB"/>
          </a:solidFill>
          <a:ln w="12700">
            <a:solidFill>
              <a:srgbClr val="9FD8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3520440"/>
            <a:ext cx="10500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50" dirty="0">
                <a:solidFill>
                  <a:srgbClr val="DC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gains came from preprocessing and from matching the operating point to the clinical cost of each error — not from the choice of algorithm.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85800" y="4544568"/>
            <a:ext cx="137160" cy="137160"/>
          </a:xfrm>
          <a:prstGeom prst="ellipse">
            <a:avLst/>
          </a:prstGeom>
          <a:solidFill>
            <a:srgbClr val="9FD8CB"/>
          </a:solidFill>
          <a:ln w="12700">
            <a:solidFill>
              <a:srgbClr val="9FD8C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51560" y="4343400"/>
            <a:ext cx="10500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50" dirty="0">
                <a:solidFill>
                  <a:srgbClr val="DC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of the five models landed within a few points of each other. A well-regularised linear model was competitive with everything more elaborate.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685800" y="5367528"/>
            <a:ext cx="137160" cy="137160"/>
          </a:xfrm>
          <a:prstGeom prst="ellipse">
            <a:avLst/>
          </a:prstGeom>
          <a:solidFill>
            <a:srgbClr val="9FD8CB"/>
          </a:solidFill>
          <a:ln w="12700">
            <a:solidFill>
              <a:srgbClr val="9FD8C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51560" y="5166360"/>
            <a:ext cx="105000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450" dirty="0">
                <a:solidFill>
                  <a:srgbClr val="DCE8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 triage aid flagging ~80% of diabetics for confirmatory testing, the model is plausible and its behaviour is explainable.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10637215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E90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3B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822960" y="32461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9FD8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22960" y="4206240"/>
            <a:ext cx="6035040" cy="685800"/>
          </a:xfrm>
          <a:prstGeom prst="roundRect">
            <a:avLst>
              <a:gd name="adj" fmla="val 13333"/>
            </a:avLst>
          </a:prstGeom>
          <a:solidFill>
            <a:srgbClr val="16535E"/>
          </a:solidFill>
          <a:ln w="12700">
            <a:solidFill>
              <a:srgbClr val="16535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42062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9FD8C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github.com/ssameh12/diabetes-prediction-cbio313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822960" y="51663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9CD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Shahd Sameh Safwat  ·  231002256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1943</Words>
  <Application>Microsoft Office PowerPoint</Application>
  <PresentationFormat>Widescreen</PresentationFormat>
  <Paragraphs>321</Paragraphs>
  <Slides>21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Diabetes Prediction from Clinical Measurements</dc:title>
  <dc:subject>PptxGenJS Presentation</dc:subject>
  <dc:creator>Shahd Sameh Safwat</dc:creator>
  <cp:lastModifiedBy>Mohamed Mahmoud</cp:lastModifiedBy>
  <cp:revision>2</cp:revision>
  <dcterms:created xsi:type="dcterms:W3CDTF">2026-08-08T16:53:11Z</dcterms:created>
  <dcterms:modified xsi:type="dcterms:W3CDTF">2026-08-17T12:28:06Z</dcterms:modified>
</cp:coreProperties>
</file>