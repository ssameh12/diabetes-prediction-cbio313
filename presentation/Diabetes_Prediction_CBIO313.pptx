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6" r:id="rId19"/>
    <p:sldId id="272" r:id="rId20"/>
    <p:sldId id="273" r:id="rId21"/>
    <p:sldId id="27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3B43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E3B43"/>
                </a:solidFill>
                <a:latin typeface="Calibri"/>
              </a:rPr>
              <a:t>Cross-validated ROC-AUC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ROC-AUC</c:v>
                </c:pt>
              </c:strCache>
            </c:strRef>
          </c:tx>
          <c:spPr>
            <a:solidFill>
              <a:srgbClr val="D1523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1DD-4E8A-8058-CC44257D0DD1}"/>
              </c:ext>
            </c:extLst>
          </c:dPt>
          <c:dPt>
            <c:idx val="1"/>
            <c:invertIfNegative val="0"/>
            <c:bubble3D val="0"/>
            <c:spPr>
              <a:solidFill>
                <a:srgbClr val="1B7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1DD-4E8A-8058-CC44257D0DD1}"/>
              </c:ext>
            </c:extLst>
          </c:dPt>
          <c:dPt>
            <c:idx val="2"/>
            <c:invertIfNegative val="0"/>
            <c:bubble3D val="0"/>
            <c:spPr>
              <a:solidFill>
                <a:srgbClr val="1B7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1DD-4E8A-8058-CC44257D0DD1}"/>
              </c:ext>
            </c:extLst>
          </c:dPt>
          <c:dPt>
            <c:idx val="3"/>
            <c:invertIfNegative val="0"/>
            <c:bubble3D val="0"/>
            <c:spPr>
              <a:solidFill>
                <a:srgbClr val="1B7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1DD-4E8A-8058-CC44257D0DD1}"/>
              </c:ext>
            </c:extLst>
          </c:dPt>
          <c:dPt>
            <c:idx val="4"/>
            <c:invertIfNegative val="0"/>
            <c:bubble3D val="0"/>
            <c:spPr>
              <a:solidFill>
                <a:srgbClr val="0E3B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1DD-4E8A-8058-CC44257D0DD1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E3B4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Decision Tree</c:v>
                </c:pt>
                <c:pt idx="1">
                  <c:v>Random Forest</c:v>
                </c:pt>
                <c:pt idx="2">
                  <c:v>K-Nearest Neighbours</c:v>
                </c:pt>
                <c:pt idx="3">
                  <c:v>SVM (RBF)</c:v>
                </c:pt>
                <c:pt idx="4">
                  <c:v>Logistic Regression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0.65100000000000002</c:v>
                </c:pt>
                <c:pt idx="1">
                  <c:v>0.82099999999999995</c:v>
                </c:pt>
                <c:pt idx="2">
                  <c:v>0.82199999999999995</c:v>
                </c:pt>
                <c:pt idx="3">
                  <c:v>0.83299999999999996</c:v>
                </c:pt>
                <c:pt idx="4">
                  <c:v>0.84299999999999997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1DD-4E8A-8058-CC44257D0D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E3B4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12700" cap="flat">
              <a:solidFill>
                <a:srgbClr val="EDF2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AA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860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Course project comparing five ML algorithms for diabetes screening on the Pima Indians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asymmetry of the two errors is the premise for everything later — it is why accuracy is the wrong target and why the threshold gets 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objectives, in the order the report follows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768 patients, 8 features, 35% positive. The narrow population is the single biggest limitation and comes back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Nearly half of the insulin column and 30% of skin-fold thickness are missing values disguised as zeros. This single fix matters more than the choice of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Imputation lives inside the pipeline so the median is recomputed within every CV fold. The test set is touched exactly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majority-class baseline is 65% accuracy. Every accuracy number later has to beat that to mean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Kernel density estimates per feature, split by outcome, with missing values excluded. Glucose is the standout separator.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share the same pipeline, so differences are attributable to the algorithm. The single decision tree is the clear outlier.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metrics side by side. The recall gap is the thing to point at — it sets up the threshold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only time the test set is used. Ranking is broadly consistent with cross-validation, which is reassuring.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models were tuned. SVM wins on cross-validated ROC-AUC; the three test scores are within 0.003 of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model, same probabilities — only the cut-off moved. Accuracy barely notices; recall moves 31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Confusion matrices at 0.50 and at 0.285. False negatives drop from 27 to 10; false positives rise from 18 to 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beeswarm on the tuned SVM. Ranking matches permutation importance, and the direction of effect is clinically sensible.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of the Streamlit app. Show the default patient, then raise glucose to 190 to cross the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direct about scope. The narrow population and the absence of external validation are the two that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framing: the win came from preprocessing and threshold choice, not from a fancier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slide with the repository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60120"/>
            <a:ext cx="1371600" cy="384048"/>
          </a:xfrm>
          <a:prstGeom prst="roundRect">
            <a:avLst>
              <a:gd name="adj" fmla="val 95238"/>
            </a:avLst>
          </a:prstGeom>
          <a:solidFill>
            <a:srgbClr val="16535E"/>
          </a:solidFill>
          <a:ln w="12700">
            <a:solidFill>
              <a:srgbClr val="1653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60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CBIO313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Prediction from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Measurements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five machine learning algorithms on the Pima Indians dataset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5852160" cy="1371600"/>
          </a:xfrm>
          <a:prstGeom prst="roundRect">
            <a:avLst>
              <a:gd name="adj" fmla="val 4000"/>
            </a:avLst>
          </a:prstGeom>
          <a:solidFill>
            <a:srgbClr val="16535E"/>
          </a:solidFill>
          <a:ln w="12700">
            <a:solidFill>
              <a:srgbClr val="1653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5262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Shahd Sameh Safwat</a:t>
            </a:r>
            <a:endParaRPr lang="en-US" sz="17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231002256</a:t>
            </a:r>
            <a:endParaRPr lang="en-US" sz="17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B9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Machine Learning  ·  Instructor: Dr. Muhammad Elsayeh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CBIO313  ·  Diabetes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27048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27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1572768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onset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07008" y="1865376"/>
            <a:ext cx="4690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diabetes develops silently. By the time symptoms appear, damage to the kidneys, retina and nerves is often already underway.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944368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07008" y="2990088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is expensive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07008" y="3282696"/>
            <a:ext cx="4690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programmes exist for this reason — but a full diagnostic workup is expensive and cannot be given to everyone.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361688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361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07008" y="4407408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07008" y="4700016"/>
            <a:ext cx="4690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triage step that flags who most needs that workup, using measurements already taken at a routine visit.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09360" y="1572768"/>
            <a:ext cx="5242255" cy="4114800"/>
          </a:xfrm>
          <a:prstGeom prst="roundRect">
            <a:avLst>
              <a:gd name="adj" fmla="val 1778"/>
            </a:avLst>
          </a:prstGeom>
          <a:solidFill>
            <a:srgbClr val="F3F7F7"/>
          </a:solidFill>
          <a:ln w="12700">
            <a:solidFill>
              <a:srgbClr val="F3F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182880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errors are not equally costly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629400" y="2377440"/>
            <a:ext cx="4602175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542032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2834640"/>
            <a:ext cx="4144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 patient goes for one extra blood test.  Inconvenient.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3886200"/>
            <a:ext cx="4602175" cy="1463040"/>
          </a:xfrm>
          <a:prstGeom prst="roundRect">
            <a:avLst>
              <a:gd name="adj" fmla="val 50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4050792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4343400"/>
            <a:ext cx="4144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7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undiagnosed diabetic is sent home reassured.  Serious.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set out to do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CBIO313  ·  Diabetes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227168" cy="1170432"/>
          </a:xfrm>
          <a:prstGeom prst="roundRect">
            <a:avLst>
              <a:gd name="adj" fmla="val 6250"/>
            </a:avLst>
          </a:prstGeom>
          <a:solidFill>
            <a:srgbClr val="F3F7F7"/>
          </a:solidFill>
          <a:ln w="12700">
            <a:solidFill>
              <a:srgbClr val="F3F7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29384"/>
            <a:ext cx="502920" cy="502920"/>
          </a:xfrm>
          <a:prstGeom prst="roundRect">
            <a:avLst>
              <a:gd name="adj" fmla="val 45455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29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1746504"/>
            <a:ext cx="39927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 dataset where missing values were silently recorded as zeros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24448" y="1600200"/>
            <a:ext cx="5227168" cy="1170432"/>
          </a:xfrm>
          <a:prstGeom prst="roundRect">
            <a:avLst>
              <a:gd name="adj" fmla="val 6250"/>
            </a:avLst>
          </a:prstGeom>
          <a:solidFill>
            <a:srgbClr val="F3F7F7"/>
          </a:solidFill>
          <a:ln w="12700">
            <a:solidFill>
              <a:srgbClr val="F3F7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98768" y="1929384"/>
            <a:ext cx="502920" cy="502920"/>
          </a:xfrm>
          <a:prstGeom prst="roundRect">
            <a:avLst>
              <a:gd name="adj" fmla="val 45455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98768" y="1929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84568" y="1746504"/>
            <a:ext cx="39927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how each measurement relates to diabetes status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5227168" cy="1170432"/>
          </a:xfrm>
          <a:prstGeom prst="roundRect">
            <a:avLst>
              <a:gd name="adj" fmla="val 6250"/>
            </a:avLst>
          </a:prstGeom>
          <a:solidFill>
            <a:srgbClr val="F3F7F7"/>
          </a:solidFill>
          <a:ln w="12700">
            <a:solidFill>
              <a:srgbClr val="F3F7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392424"/>
            <a:ext cx="502920" cy="502920"/>
          </a:xfrm>
          <a:prstGeom prst="roundRect">
            <a:avLst>
              <a:gd name="adj" fmla="val 45455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3209544"/>
            <a:ext cx="39927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five algorithms from the course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24448" y="3063240"/>
            <a:ext cx="5227168" cy="1170432"/>
          </a:xfrm>
          <a:prstGeom prst="roundRect">
            <a:avLst>
              <a:gd name="adj" fmla="val 6250"/>
            </a:avLst>
          </a:prstGeom>
          <a:solidFill>
            <a:srgbClr val="F3F7F7"/>
          </a:solidFill>
          <a:ln w="12700">
            <a:solidFill>
              <a:srgbClr val="F3F7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98768" y="3392424"/>
            <a:ext cx="502920" cy="502920"/>
          </a:xfrm>
          <a:prstGeom prst="roundRect">
            <a:avLst>
              <a:gd name="adj" fmla="val 45455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98768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84568" y="3209544"/>
            <a:ext cx="39927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metrics suited to imbalanced medical screening — not accuracy alone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526280"/>
            <a:ext cx="5227168" cy="1170432"/>
          </a:xfrm>
          <a:prstGeom prst="roundRect">
            <a:avLst>
              <a:gd name="adj" fmla="val 6250"/>
            </a:avLst>
          </a:prstGeom>
          <a:solidFill>
            <a:srgbClr val="F3F7F7"/>
          </a:solidFill>
          <a:ln w="12700">
            <a:solidFill>
              <a:srgbClr val="F3F7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855464"/>
            <a:ext cx="502920" cy="502920"/>
          </a:xfrm>
          <a:prstGeom prst="roundRect">
            <a:avLst>
              <a:gd name="adj" fmla="val 45455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855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00200" y="4672584"/>
            <a:ext cx="39927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best model and choose a threshold appropriate for screening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24448" y="4526280"/>
            <a:ext cx="5227168" cy="1170432"/>
          </a:xfrm>
          <a:prstGeom prst="roundRect">
            <a:avLst>
              <a:gd name="adj" fmla="val 6250"/>
            </a:avLst>
          </a:prstGeom>
          <a:solidFill>
            <a:srgbClr val="F3F7F7"/>
          </a:solidFill>
          <a:ln w="12700">
            <a:solidFill>
              <a:srgbClr val="F3F7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98768" y="4855464"/>
            <a:ext cx="502920" cy="502920"/>
          </a:xfrm>
          <a:prstGeom prst="roundRect">
            <a:avLst>
              <a:gd name="adj" fmla="val 45455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98768" y="4855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84568" y="4672584"/>
            <a:ext cx="39927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the model predicts what it predicts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Diabetes Database — UCI / NIDDK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CBIO313  ·  Diabetes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2487854" cy="1691640"/>
          </a:xfrm>
          <a:prstGeom prst="roundRect">
            <a:avLst>
              <a:gd name="adj" fmla="val 4324"/>
            </a:avLst>
          </a:prstGeom>
          <a:solidFill>
            <a:srgbClr val="E8F1F1"/>
          </a:solidFill>
          <a:ln w="12700">
            <a:solidFill>
              <a:srgbClr val="E8F1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55648"/>
            <a:ext cx="24878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2670048"/>
            <a:ext cx="2487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47974" y="1572768"/>
            <a:ext cx="2487854" cy="1691640"/>
          </a:xfrm>
          <a:prstGeom prst="roundRect">
            <a:avLst>
              <a:gd name="adj" fmla="val 4324"/>
            </a:avLst>
          </a:prstGeom>
          <a:solidFill>
            <a:srgbClr val="E8F1F1"/>
          </a:solidFill>
          <a:ln w="12700">
            <a:solidFill>
              <a:srgbClr val="E8F1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974" y="1755648"/>
            <a:ext cx="24878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3447974" y="2670048"/>
            <a:ext cx="2487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5868" y="1572768"/>
            <a:ext cx="2487854" cy="1691640"/>
          </a:xfrm>
          <a:prstGeom prst="roundRect">
            <a:avLst>
              <a:gd name="adj" fmla="val 4324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5868" y="1755648"/>
            <a:ext cx="24878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D15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255868" y="2670048"/>
            <a:ext cx="2487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diabetes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63761" y="1572768"/>
            <a:ext cx="2487854" cy="1691640"/>
          </a:xfrm>
          <a:prstGeom prst="roundRect">
            <a:avLst>
              <a:gd name="adj" fmla="val 4324"/>
            </a:avLst>
          </a:prstGeom>
          <a:solidFill>
            <a:srgbClr val="E8F1F1"/>
          </a:solidFill>
          <a:ln w="12700">
            <a:solidFill>
              <a:srgbClr val="E8F1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63761" y="1755648"/>
            <a:ext cx="24878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21+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9063761" y="2670048"/>
            <a:ext cx="2487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women, Pima heritage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10911535" cy="2103120"/>
          </a:xfrm>
          <a:prstGeom prst="roundRect">
            <a:avLst>
              <a:gd name="adj" fmla="val 3478"/>
            </a:avLst>
          </a:prstGeom>
          <a:solidFill>
            <a:srgbClr val="F3F7F7"/>
          </a:solidFill>
          <a:ln w="12700">
            <a:solidFill>
              <a:srgbClr val="F3F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70332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5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measurements: </a:t>
            </a:r>
            <a:r>
              <a:rPr lang="en-US" sz="145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pregnancies, plasma glucose, blood pressure, skin-fold thickness, serum insulin, BMI, family-history score, age.</a:t>
            </a:r>
            <a:endParaRPr lang="en-US" sz="14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5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45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— 1 = diabetes, 0 = no diabetes.  500 negative / 268 positive.</a:t>
            </a:r>
            <a:endParaRPr lang="en-US" sz="14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50" i="1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patients are women of Pima heritage aged 21+ near Phoenix, Arizona — a narrow population, revisited in the limitations.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1: the zeros are not zeros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preprocessing step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CBIO313  ·  Diabetes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columns report a minimum of 0 — glucose, blood pressure, skin thickness, insulin, BMI. None is biologically possible in a living patient.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missing measurements that were never marked as missing. Left alone, a model reads insulin = 0 as a real, extremely low reading — the opposite of the truth.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160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D1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incomplete rows would throw away nearly half the dataset.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7548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7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Instead: mark as NaN, then impute the median inside the model pipeline.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37360"/>
          <a:ext cx="5242255" cy="2852928"/>
        </p:xfrm>
        <a:graphic>
          <a:graphicData uri="http://schemas.openxmlformats.org/drawingml/2006/table">
            <a:tbl>
              <a:tblPr/>
              <a:tblGrid>
                <a:gridCol w="2621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8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2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rows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D1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D1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SkinThickness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D1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D1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BloodPressure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we avoided cheating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CBIO313  ·  Diabetes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179978" cy="777240"/>
          </a:xfrm>
          <a:prstGeom prst="roundRect">
            <a:avLst>
              <a:gd name="adj" fmla="val 14118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317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(median)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20058" y="1554480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05858" y="1554480"/>
            <a:ext cx="3179978" cy="777240"/>
          </a:xfrm>
          <a:prstGeom prst="roundRect">
            <a:avLst>
              <a:gd name="adj" fmla="val 14118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5858" y="1554480"/>
            <a:ext cx="317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(StandardScaler)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85837" y="1554480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371637" y="1554480"/>
            <a:ext cx="3179978" cy="777240"/>
          </a:xfrm>
          <a:prstGeom prst="roundRect">
            <a:avLst>
              <a:gd name="adj" fmla="val 14118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1637" y="1554480"/>
            <a:ext cx="317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23957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estimator, identical for all five algorithms.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834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places this project could have quietly cheated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40080" y="3310128"/>
            <a:ext cx="3393338" cy="2331720"/>
          </a:xfrm>
          <a:prstGeom prst="roundRect">
            <a:avLst>
              <a:gd name="adj" fmla="val 3137"/>
            </a:avLst>
          </a:prstGeom>
          <a:solidFill>
            <a:srgbClr val="F3F7F7"/>
          </a:solidFill>
          <a:ln w="12700">
            <a:solidFill>
              <a:srgbClr val="F3F7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5478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133088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inside the pipeline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14400" y="4663440"/>
            <a:ext cx="2844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the median over all 768 rows and then splitting would leak test data into training and inflate every score.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99178" y="3310128"/>
            <a:ext cx="3393338" cy="2331720"/>
          </a:xfrm>
          <a:prstGeom prst="roundRect">
            <a:avLst>
              <a:gd name="adj" fmla="val 3137"/>
            </a:avLst>
          </a:prstGeom>
          <a:solidFill>
            <a:srgbClr val="F3F7F7"/>
          </a:solidFill>
          <a:ln w="12700">
            <a:solidFill>
              <a:srgbClr val="F3F7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73498" y="35478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73498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73498" y="4133088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chosen on CV score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673498" y="4663440"/>
            <a:ext cx="2844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 was chosen on cross-validated training score, never on test performance. Picking by test score is model selection on the test set.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58277" y="3310128"/>
            <a:ext cx="3393338" cy="2331720"/>
          </a:xfrm>
          <a:prstGeom prst="roundRect">
            <a:avLst>
              <a:gd name="adj" fmla="val 3137"/>
            </a:avLst>
          </a:prstGeom>
          <a:solidFill>
            <a:srgbClr val="F3F7F7"/>
          </a:solidFill>
          <a:ln w="12700">
            <a:solidFill>
              <a:srgbClr val="F3F7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32597" y="35478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2597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32597" y="4133088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from out-of-fold predictions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432597" y="4663440"/>
            <a:ext cx="2844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was chosen from out-of-fold training predictions. The test set was used exactly once, at the very end.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and missing data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CBIO313  ·  Diabetes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6" name="Image 0" descr="/home/claude/work/img/fig-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608" y="1536192"/>
            <a:ext cx="8412480" cy="374887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39496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539496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D1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always says "no diabetes" scores 65% accuracy and catches zero diabetics.  </a:t>
            </a:r>
            <a:r>
              <a:rPr lang="en-US" sz="1400" dirty="0">
                <a:solidFill>
                  <a:srgbClr val="7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benchmark every accuracy figure must be read against.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measurements separate the groups?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CBIO313  ·  Diabetes Prediction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5" name="Image 0" descr="/home/claude/work/img/fig-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408" y="1207008"/>
            <a:ext cx="9326880" cy="42100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50468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separates the two groups most clearly. BMI and Age shift moderately.</a:t>
            </a:r>
            <a:endParaRPr lang="en-US" sz="14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BloodPressure and SkinThickness overlap almost entirely — they will contribute little.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algorithms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 the identical impute → scale → classify 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CBIO313  ·  Diabetes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baseline, interpretable coefficients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margin with a non-linear kernel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3101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Neighbours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358444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Non-parametric, purely local decision rule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41513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442569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Bagged ensemble of 300 trees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49926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" y="526694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rules, reference for the ensemble</a:t>
            </a:r>
            <a:endParaRPr lang="en-US" sz="12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532120" y="1481328"/>
          <a:ext cx="6019495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640080" y="5760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cross-validation on the training set only — the test set stays sealed.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on the training set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CBIO313  ·  Diabetes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6" name="Image 0" descr="/home/claude/work/img/fig-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768" y="1536192"/>
            <a:ext cx="8138160" cy="35903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230368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5230368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1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recall is far below accuracy for every single model.</a:t>
            </a:r>
            <a:endParaRPr lang="en-US" sz="14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7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default cut-off these classifiers catch only about 55–60% of diabetics.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Held-out test set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— the test set's one and only use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CBIO313  ·  Diabetes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6" name="Image 0" descr="/home/claude/work/img/fig-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81328"/>
            <a:ext cx="5029200" cy="4493023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737360"/>
          <a:ext cx="5333695" cy="2743200"/>
        </p:xfrm>
        <a:graphic>
          <a:graphicData uri="http://schemas.openxmlformats.org/drawingml/2006/table">
            <a:tbl>
              <a:tblPr/>
              <a:tblGrid>
                <a:gridCol w="213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3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1B7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1B7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1B7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Neighbours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1B7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1B7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217920" y="4892040"/>
            <a:ext cx="5333695" cy="1188720"/>
          </a:xfrm>
          <a:prstGeom prst="roundRect">
            <a:avLst>
              <a:gd name="adj" fmla="val 6154"/>
            </a:avLst>
          </a:prstGeom>
          <a:solidFill>
            <a:srgbClr val="E8F1F1"/>
          </a:solidFill>
          <a:ln w="12700">
            <a:solidFill>
              <a:srgbClr val="E8F1F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37960" y="4892040"/>
            <a:ext cx="46936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the five curves sit close together. Recall at the default cut-off never reaches 0.58 — no model is screening-ready out of the box.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GridSearchCV, scored on ROC-AUC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CBIO313  ·  Diabetes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E8F1F1"/>
          </a:solidFill>
          <a:ln w="12700">
            <a:solidFill>
              <a:srgbClr val="E8F1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 are scored on ROC-AUC, not recall. Optimising directly on recall rewards models that just predict "diabetic" more often — in the limit, flagging everyone scores perfect recall. ROC-AUC ranks models independently of the threshold.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F3F7F7"/>
          </a:solidFill>
          <a:ln w="12700">
            <a:solidFill>
              <a:srgbClr val="F3F7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7797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60120" y="31089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8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C=0.1,  class_weight=balanced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19695" y="27797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19695" y="305409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0.8450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585655" y="27797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585655" y="305409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0.8104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" y="3730752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F3F7F7"/>
          </a:solidFill>
          <a:ln w="12700">
            <a:solidFill>
              <a:srgbClr val="F3F7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858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60120" y="418795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8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class_weight=None,  max_depth=5,  min_samples_leaf=3,  n_estimators=400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19695" y="38587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19695" y="41330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0.8388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585655" y="38587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85655" y="41330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0.8119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0080" y="4809744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D6E9E7"/>
          </a:solidFill>
          <a:ln w="12700">
            <a:solidFill>
              <a:srgbClr val="D6E9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937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60120" y="526694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8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C=1,  class_weight=balanced,  gamma=0.01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619695" y="4937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619695" y="5212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0.8493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85655" y="4937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585655" y="5212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0.8096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 </a:t>
            </a:r>
            <a:r>
              <a:rPr lang="en-US" sz="1450" b="1" dirty="0">
                <a:solidFill>
                  <a:srgbClr val="D1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r>
              <a:rPr lang="en-US" sz="145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CV ROC-AUC 0.849,  test ROC-AUC 0.810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2: the threshold is the real result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marks are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CBIO313  ·  Diabetes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predict() flags a patient at probability 0.50. That cut-off maximises accuracy — the wrong target for screening. We chose the threshold from out-of-fold training predictions to reach 80% recall.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911535" cy="1591056"/>
        </p:xfrm>
        <a:graphic>
          <a:graphicData uri="http://schemas.openxmlformats.org/drawingml/2006/table">
            <a:tbl>
              <a:tblPr/>
              <a:tblGrid>
                <a:gridCol w="2836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4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49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58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8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point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diabetics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 0.50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0.708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of 54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  0.285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5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50" b="1" dirty="0">
                          <a:solidFill>
                            <a:srgbClr val="D1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50" b="1" dirty="0">
                          <a:solidFill>
                            <a:srgbClr val="D1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of 54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434840"/>
            <a:ext cx="3393338" cy="1298448"/>
          </a:xfrm>
          <a:prstGeom prst="roundRect">
            <a:avLst>
              <a:gd name="adj" fmla="val 5634"/>
            </a:avLst>
          </a:prstGeom>
          <a:solidFill>
            <a:srgbClr val="E8F1F1"/>
          </a:solidFill>
          <a:ln w="12700">
            <a:solidFill>
              <a:srgbClr val="E8F1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553712"/>
            <a:ext cx="3393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+1.3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40080" y="5285232"/>
            <a:ext cx="3393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accuracy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99178" y="4434840"/>
            <a:ext cx="3393338" cy="1298448"/>
          </a:xfrm>
          <a:prstGeom prst="roundRect">
            <a:avLst>
              <a:gd name="adj" fmla="val 5634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99178" y="4553712"/>
            <a:ext cx="3393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15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+31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4399178" y="5285232"/>
            <a:ext cx="3393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recall</a:t>
            </a:r>
            <a:endParaRPr lang="en-US" sz="1300" dirty="0"/>
          </a:p>
        </p:txBody>
      </p:sp>
      <p:sp>
        <p:nvSpPr>
          <p:cNvPr id="7" name="Shape 11"/>
          <p:cNvSpPr/>
          <p:nvPr/>
        </p:nvSpPr>
        <p:spPr>
          <a:xfrm>
            <a:off x="8158277" y="4434840"/>
            <a:ext cx="3393338" cy="1298448"/>
          </a:xfrm>
          <a:prstGeom prst="roundRect">
            <a:avLst>
              <a:gd name="adj" fmla="val 5634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58277" y="4553712"/>
            <a:ext cx="3393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15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→ 10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8158277" y="5285232"/>
            <a:ext cx="3393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diabetics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585216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was simply not measuring the thing we care about — the whole gain cost 2.9 points of precision.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model, two operating points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CBIO313  ·  Diabetes Prediction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5" name="Image 0" descr="/home/claude/work/img/fig-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168" y="1234440"/>
            <a:ext cx="8595360" cy="364086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20240" y="5257800"/>
            <a:ext cx="8351215" cy="777240"/>
          </a:xfrm>
          <a:prstGeom prst="roundRect">
            <a:avLst>
              <a:gd name="adj" fmla="val 9412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20240" y="5257800"/>
            <a:ext cx="8351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1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Bottom-left cell = diabetics the model sent home.  That is the number to watch.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and SHAP agree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CBIO313  ·  Diabetes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6" name="Image 0" descr="/home/claude/work/img/fig-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72768"/>
            <a:ext cx="6766560" cy="38514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63840" y="1746504"/>
            <a:ext cx="128016" cy="128016"/>
          </a:xfrm>
          <a:prstGeom prst="ellipse">
            <a:avLst/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38160" y="1627632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one patient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863840" y="2157984"/>
            <a:ext cx="128016" cy="128016"/>
          </a:xfrm>
          <a:prstGeom prst="ellipse">
            <a:avLst/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0" y="2039112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= pushed towards diabetes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863840" y="2569464"/>
            <a:ext cx="128016" cy="128016"/>
          </a:xfrm>
          <a:prstGeom prst="ellipse">
            <a:avLst/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450592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high value, blue = low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863840" y="3200400"/>
            <a:ext cx="3687775" cy="2514600"/>
          </a:xfrm>
          <a:prstGeom prst="roundRect">
            <a:avLst>
              <a:gd name="adj" fmla="val 2909"/>
            </a:avLst>
          </a:prstGeom>
          <a:solidFill>
            <a:srgbClr val="E8F1F1"/>
          </a:solidFill>
          <a:ln w="12700">
            <a:solidFill>
              <a:srgbClr val="E8F1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0" y="3383280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Glucose, then BMI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138160" y="3794760"/>
            <a:ext cx="313913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glucose pushes towards diabetes; low glucose pulls back. The direction is clinically correct — a model with the right accuracy but an inverted relationship would be dangerous, and this plot would expose it.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Streamlit prediction app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CBIO313  ·  Diabetes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78508"/>
            <a:ext cx="384048" cy="384048"/>
          </a:xfrm>
          <a:prstGeom prst="roundRect">
            <a:avLst>
              <a:gd name="adj" fmla="val 59524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785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25296" y="1627632"/>
            <a:ext cx="5266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eight measurements on the sidebar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647188"/>
            <a:ext cx="384048" cy="384048"/>
          </a:xfrm>
          <a:prstGeom prst="roundRect">
            <a:avLst>
              <a:gd name="adj" fmla="val 59524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471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25296" y="2496312"/>
            <a:ext cx="5266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predicted probability and a screening decision at the tuned threshold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15868"/>
            <a:ext cx="384048" cy="384048"/>
          </a:xfrm>
          <a:prstGeom prst="roundRect">
            <a:avLst>
              <a:gd name="adj" fmla="val 59524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158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25296" y="3364992"/>
            <a:ext cx="5266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the patient compares to the population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384548"/>
            <a:ext cx="384048" cy="384048"/>
          </a:xfrm>
          <a:prstGeom prst="roundRect">
            <a:avLst>
              <a:gd name="adj" fmla="val 59524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845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25296" y="4233672"/>
            <a:ext cx="5266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 per-patient SHAP explanation of that specific prediction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49440" y="1572768"/>
            <a:ext cx="4602175" cy="1051560"/>
          </a:xfrm>
          <a:prstGeom prst="roundRect">
            <a:avLst>
              <a:gd name="adj" fmla="val 6957"/>
            </a:avLst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1572768"/>
            <a:ext cx="3962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D8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streamlit run src/app.py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49440" y="2834640"/>
            <a:ext cx="4602175" cy="1280160"/>
          </a:xfrm>
          <a:prstGeom prst="roundRect">
            <a:avLst>
              <a:gd name="adj" fmla="val 5714"/>
            </a:avLst>
          </a:prstGeom>
          <a:solidFill>
            <a:srgbClr val="E8F1F1"/>
          </a:solidFill>
          <a:ln w="12700">
            <a:solidFill>
              <a:srgbClr val="E8F1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2999232"/>
            <a:ext cx="2407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patient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69480" y="3383280"/>
            <a:ext cx="2407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flagged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22815" y="31089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23.5%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6949440" y="4251960"/>
            <a:ext cx="4602175" cy="1280160"/>
          </a:xfrm>
          <a:prstGeom prst="roundRect">
            <a:avLst>
              <a:gd name="adj" fmla="val 5714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9480" y="4416552"/>
            <a:ext cx="2407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glucose to 190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69480" y="4800600"/>
            <a:ext cx="2407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D1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confirmatory testing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22815" y="45262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15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78.6%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138F69-94B8-30AC-96FA-A84AC907D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937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965EF9-DB88-F212-90B6-A8E28E3B8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140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model cannot do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CBIO313  ·  Diabetes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F3F7F7"/>
          </a:solidFill>
          <a:ln w="12700">
            <a:solidFill>
              <a:srgbClr val="F3F7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746504"/>
            <a:ext cx="402336" cy="402336"/>
          </a:xfrm>
          <a:prstGeom prst="roundRect">
            <a:avLst>
              <a:gd name="adj" fmla="val 56818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57276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population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1572768"/>
            <a:ext cx="6705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patients, all women of Pima heritage aged 21+. Nothing transfers to men, other ethnicities, or younger patients.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414016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587752"/>
            <a:ext cx="402336" cy="402336"/>
          </a:xfrm>
          <a:prstGeom prst="roundRect">
            <a:avLst>
              <a:gd name="adj" fmla="val 56818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241401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imputation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414016"/>
            <a:ext cx="6705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 of insulin and 30% of skin-fold values were filled in — and both rank near the bottom of the importance plots.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255264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F3F7F7"/>
          </a:solidFill>
          <a:ln w="12700">
            <a:solidFill>
              <a:srgbClr val="F3F7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429000"/>
            <a:ext cx="402336" cy="402336"/>
          </a:xfrm>
          <a:prstGeom prst="roundRect">
            <a:avLst>
              <a:gd name="adj" fmla="val 56818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3255264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is probably not random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17720" y="3255264"/>
            <a:ext cx="6705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assumes it is.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096512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4270248"/>
            <a:ext cx="402336" cy="402336"/>
          </a:xfrm>
          <a:prstGeom prst="roundRect">
            <a:avLst>
              <a:gd name="adj" fmla="val 56818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096512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validation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17720" y="4096512"/>
            <a:ext cx="6705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154-patient test split, so the interval around a recall of 0.81 is wide.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937760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F3F7F7"/>
          </a:solidFill>
          <a:ln w="12700">
            <a:solidFill>
              <a:srgbClr val="F3F7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5111496"/>
            <a:ext cx="402336" cy="402336"/>
          </a:xfrm>
          <a:prstGeom prst="roundRect">
            <a:avLst>
              <a:gd name="adj" fmla="val 56818"/>
            </a:avLst>
          </a:prstGeom>
          <a:solidFill>
            <a:srgbClr val="1B7A82"/>
          </a:solidFill>
          <a:ln w="12700">
            <a:solidFill>
              <a:srgbClr val="1B7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5111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17320" y="493776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ceiling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17720" y="4937760"/>
            <a:ext cx="6705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66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coarse measurements carry limited signal. Better results need better features (HbA1c, fasting glucose), not fancier models.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5806440"/>
            <a:ext cx="10911535" cy="457200"/>
          </a:xfrm>
          <a:prstGeom prst="roundRect">
            <a:avLst>
              <a:gd name="adj" fmla="val 160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1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course project, not a medical device.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3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487854" cy="1645920"/>
          </a:xfrm>
          <a:prstGeom prst="roundRect">
            <a:avLst>
              <a:gd name="adj" fmla="val 4444"/>
            </a:avLst>
          </a:prstGeom>
          <a:solidFill>
            <a:srgbClr val="16535E"/>
          </a:solidFill>
          <a:ln w="12700">
            <a:solidFill>
              <a:srgbClr val="1653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24878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0.810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487168"/>
            <a:ext cx="2487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47974" y="1463040"/>
            <a:ext cx="2487854" cy="1645920"/>
          </a:xfrm>
          <a:prstGeom prst="roundRect">
            <a:avLst>
              <a:gd name="adj" fmla="val 4444"/>
            </a:avLst>
          </a:prstGeom>
          <a:solidFill>
            <a:srgbClr val="16535E"/>
          </a:solidFill>
          <a:ln w="12700">
            <a:solidFill>
              <a:srgbClr val="1653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47974" y="1645920"/>
            <a:ext cx="24878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447974" y="2487168"/>
            <a:ext cx="2487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diabetics caught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5868" y="1463040"/>
            <a:ext cx="2487854" cy="1645920"/>
          </a:xfrm>
          <a:prstGeom prst="roundRect">
            <a:avLst>
              <a:gd name="adj" fmla="val 4444"/>
            </a:avLst>
          </a:prstGeom>
          <a:solidFill>
            <a:srgbClr val="16535E"/>
          </a:solidFill>
          <a:ln w="12700">
            <a:solidFill>
              <a:srgbClr val="1653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55868" y="1645920"/>
            <a:ext cx="24878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of 54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255868" y="2487168"/>
            <a:ext cx="2487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missed, down from 27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063761" y="1463040"/>
            <a:ext cx="2487854" cy="1645920"/>
          </a:xfrm>
          <a:prstGeom prst="roundRect">
            <a:avLst>
              <a:gd name="adj" fmla="val 4444"/>
            </a:avLst>
          </a:prstGeom>
          <a:solidFill>
            <a:srgbClr val="16535E"/>
          </a:solidFill>
          <a:ln w="12700">
            <a:solidFill>
              <a:srgbClr val="1653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63761" y="1645920"/>
            <a:ext cx="24878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9063761" y="2487168"/>
            <a:ext cx="2487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compared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721608"/>
            <a:ext cx="137160" cy="137160"/>
          </a:xfrm>
          <a:prstGeom prst="ellipse">
            <a:avLst/>
          </a:prstGeom>
          <a:solidFill>
            <a:srgbClr val="9FD8CB"/>
          </a:solidFill>
          <a:ln w="12700">
            <a:solidFill>
              <a:srgbClr val="9FD8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520440"/>
            <a:ext cx="10500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DC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gains came from preprocessing and from matching the operating point to the clinical cost of each error — not from the choice of algorithm.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85800" y="4544568"/>
            <a:ext cx="137160" cy="137160"/>
          </a:xfrm>
          <a:prstGeom prst="ellipse">
            <a:avLst/>
          </a:prstGeom>
          <a:solidFill>
            <a:srgbClr val="9FD8CB"/>
          </a:solidFill>
          <a:ln w="12700">
            <a:solidFill>
              <a:srgbClr val="9FD8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343400"/>
            <a:ext cx="10500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DC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the five models landed within a few points of each other. A well-regularised linear model was competitive with everything more elaborate.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85800" y="5367528"/>
            <a:ext cx="137160" cy="137160"/>
          </a:xfrm>
          <a:prstGeom prst="ellipse">
            <a:avLst/>
          </a:prstGeom>
          <a:solidFill>
            <a:srgbClr val="9FD8CB"/>
          </a:solidFill>
          <a:ln w="12700">
            <a:solidFill>
              <a:srgbClr val="9FD8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166360"/>
            <a:ext cx="10500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DC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triage aid flagging ~80% of diabetics for confirmatory testing, the model is plausible and its behaviour is explainable.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9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3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4206240"/>
            <a:ext cx="6035040" cy="685800"/>
          </a:xfrm>
          <a:prstGeom prst="roundRect">
            <a:avLst>
              <a:gd name="adj" fmla="val 13333"/>
            </a:avLst>
          </a:prstGeom>
          <a:solidFill>
            <a:srgbClr val="16535E"/>
          </a:solidFill>
          <a:ln w="12700">
            <a:solidFill>
              <a:srgbClr val="1653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2062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D8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github.com/ssameh12/diabetes-prediction-cbio313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Shahd Sameh Safwat  ·  231002256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1943</Words>
  <Application>Microsoft Office PowerPoint</Application>
  <PresentationFormat>Widescreen</PresentationFormat>
  <Paragraphs>321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Prediction from Clinical Measurements</dc:title>
  <dc:subject>PptxGenJS Presentation</dc:subject>
  <dc:creator>Shahd Sameh Safwat</dc:creator>
  <cp:lastModifiedBy>a.samehsafwat@gmail.com</cp:lastModifiedBy>
  <cp:revision>2</cp:revision>
  <dcterms:created xsi:type="dcterms:W3CDTF">2026-08-08T16:53:11Z</dcterms:created>
  <dcterms:modified xsi:type="dcterms:W3CDTF">2026-08-17T09:36:46Z</dcterms:modified>
</cp:coreProperties>
</file>